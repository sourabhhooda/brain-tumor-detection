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250738" cy="9188450"/>
  <p:notesSz cx="12192000" cy="91884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AFB"/>
    <a:srgbClr val="E8EDFD"/>
    <a:srgbClr val="E5EBFE"/>
    <a:srgbClr val="E8F4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344" y="96"/>
      </p:cViewPr>
      <p:guideLst>
        <p:guide orient="horz" pos="2880"/>
        <p:guide pos="217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8808" y="2125980"/>
            <a:ext cx="10413127" cy="415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1D3A8A"/>
                </a:solidFill>
                <a:latin typeface="Adobe Clean SemiCondensed"/>
                <a:cs typeface="Adobe Clean Semi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7613" y="3840480"/>
            <a:ext cx="857551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2464" y="406400"/>
            <a:ext cx="6679775" cy="415465"/>
          </a:xfrm>
        </p:spPr>
        <p:txBody>
          <a:bodyPr lIns="0" tIns="0" rIns="0" bIns="0"/>
          <a:lstStyle>
            <a:lvl1pPr>
              <a:defRPr sz="2700" b="1" i="0">
                <a:solidFill>
                  <a:srgbClr val="1D3A8A"/>
                </a:solidFill>
                <a:latin typeface="Adobe Clean SemiCondensed"/>
                <a:cs typeface="Adobe Clean Semi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2464" y="406400"/>
            <a:ext cx="6679775" cy="415465"/>
          </a:xfrm>
        </p:spPr>
        <p:txBody>
          <a:bodyPr lIns="0" tIns="0" rIns="0" bIns="0"/>
          <a:lstStyle>
            <a:lvl1pPr>
              <a:defRPr sz="2700" b="1" i="0">
                <a:solidFill>
                  <a:srgbClr val="1D3A8A"/>
                </a:solidFill>
                <a:latin typeface="Adobe Clean SemiCondensed"/>
                <a:cs typeface="Adobe Clean Semi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2537" y="1577341"/>
            <a:ext cx="532907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09132" y="1577341"/>
            <a:ext cx="532907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2464" y="406400"/>
            <a:ext cx="6679775" cy="415465"/>
          </a:xfrm>
        </p:spPr>
        <p:txBody>
          <a:bodyPr lIns="0" tIns="0" rIns="0" bIns="0"/>
          <a:lstStyle>
            <a:lvl1pPr>
              <a:defRPr sz="2700" b="1" i="0">
                <a:solidFill>
                  <a:srgbClr val="1D3A8A"/>
                </a:solidFill>
                <a:latin typeface="Adobe Clean SemiCondensed"/>
                <a:cs typeface="Adobe Clean Semi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2464" y="406400"/>
            <a:ext cx="6679775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1D3A8A"/>
                </a:solidFill>
                <a:latin typeface="Adobe Clean SemiCondensed"/>
                <a:cs typeface="Adobe Clean Semi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0819" y="1943101"/>
            <a:ext cx="51682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65251" y="6377941"/>
            <a:ext cx="39202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2537" y="6377941"/>
            <a:ext cx="28176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20531" y="6377941"/>
            <a:ext cx="28176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28">
        <a:defRPr>
          <a:latin typeface="+mn-lt"/>
          <a:ea typeface="+mn-ea"/>
          <a:cs typeface="+mn-cs"/>
        </a:defRPr>
      </a:lvl2pPr>
      <a:lvl3pPr marL="914454">
        <a:defRPr>
          <a:latin typeface="+mn-lt"/>
          <a:ea typeface="+mn-ea"/>
          <a:cs typeface="+mn-cs"/>
        </a:defRPr>
      </a:lvl3pPr>
      <a:lvl4pPr marL="1371682">
        <a:defRPr>
          <a:latin typeface="+mn-lt"/>
          <a:ea typeface="+mn-ea"/>
          <a:cs typeface="+mn-cs"/>
        </a:defRPr>
      </a:lvl4pPr>
      <a:lvl5pPr marL="1828908">
        <a:defRPr>
          <a:latin typeface="+mn-lt"/>
          <a:ea typeface="+mn-ea"/>
          <a:cs typeface="+mn-cs"/>
        </a:defRPr>
      </a:lvl5pPr>
      <a:lvl6pPr marL="2286136">
        <a:defRPr>
          <a:latin typeface="+mn-lt"/>
          <a:ea typeface="+mn-ea"/>
          <a:cs typeface="+mn-cs"/>
        </a:defRPr>
      </a:lvl6pPr>
      <a:lvl7pPr marL="2743362">
        <a:defRPr>
          <a:latin typeface="+mn-lt"/>
          <a:ea typeface="+mn-ea"/>
          <a:cs typeface="+mn-cs"/>
        </a:defRPr>
      </a:lvl7pPr>
      <a:lvl8pPr marL="3200590">
        <a:defRPr>
          <a:latin typeface="+mn-lt"/>
          <a:ea typeface="+mn-ea"/>
          <a:cs typeface="+mn-cs"/>
        </a:defRPr>
      </a:lvl8pPr>
      <a:lvl9pPr marL="365781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8">
        <a:defRPr>
          <a:latin typeface="+mn-lt"/>
          <a:ea typeface="+mn-ea"/>
          <a:cs typeface="+mn-cs"/>
        </a:defRPr>
      </a:lvl2pPr>
      <a:lvl3pPr marL="914454">
        <a:defRPr>
          <a:latin typeface="+mn-lt"/>
          <a:ea typeface="+mn-ea"/>
          <a:cs typeface="+mn-cs"/>
        </a:defRPr>
      </a:lvl3pPr>
      <a:lvl4pPr marL="1371682">
        <a:defRPr>
          <a:latin typeface="+mn-lt"/>
          <a:ea typeface="+mn-ea"/>
          <a:cs typeface="+mn-cs"/>
        </a:defRPr>
      </a:lvl4pPr>
      <a:lvl5pPr marL="1828908">
        <a:defRPr>
          <a:latin typeface="+mn-lt"/>
          <a:ea typeface="+mn-ea"/>
          <a:cs typeface="+mn-cs"/>
        </a:defRPr>
      </a:lvl5pPr>
      <a:lvl6pPr marL="2286136">
        <a:defRPr>
          <a:latin typeface="+mn-lt"/>
          <a:ea typeface="+mn-ea"/>
          <a:cs typeface="+mn-cs"/>
        </a:defRPr>
      </a:lvl6pPr>
      <a:lvl7pPr marL="2743362">
        <a:defRPr>
          <a:latin typeface="+mn-lt"/>
          <a:ea typeface="+mn-ea"/>
          <a:cs typeface="+mn-cs"/>
        </a:defRPr>
      </a:lvl7pPr>
      <a:lvl8pPr marL="3200590">
        <a:defRPr>
          <a:latin typeface="+mn-lt"/>
          <a:ea typeface="+mn-ea"/>
          <a:cs typeface="+mn-cs"/>
        </a:defRPr>
      </a:lvl8pPr>
      <a:lvl9pPr marL="365781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369" y="2"/>
            <a:ext cx="12192000" cy="6956425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499" y="619124"/>
              <a:ext cx="2666999" cy="1142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13888" y="2127503"/>
              <a:ext cx="6367780" cy="646430"/>
            </a:xfrm>
            <a:custGeom>
              <a:avLst/>
              <a:gdLst/>
              <a:ahLst/>
              <a:cxnLst/>
              <a:rect l="l" t="t" r="r" b="b"/>
              <a:pathLst>
                <a:path w="6367780" h="646430">
                  <a:moveTo>
                    <a:pt x="6367271" y="646175"/>
                  </a:moveTo>
                  <a:lnTo>
                    <a:pt x="0" y="646175"/>
                  </a:lnTo>
                  <a:lnTo>
                    <a:pt x="0" y="0"/>
                  </a:lnTo>
                  <a:lnTo>
                    <a:pt x="6367271" y="0"/>
                  </a:lnTo>
                  <a:lnTo>
                    <a:pt x="6367271" y="646175"/>
                  </a:lnTo>
                  <a:close/>
                </a:path>
              </a:pathLst>
            </a:custGeom>
            <a:solidFill>
              <a:srgbClr val="0000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9295" y="1984247"/>
              <a:ext cx="6696709" cy="972819"/>
            </a:xfrm>
            <a:custGeom>
              <a:avLst/>
              <a:gdLst/>
              <a:ahLst/>
              <a:cxnLst/>
              <a:rect l="l" t="t" r="r" b="b"/>
              <a:pathLst>
                <a:path w="6696709" h="972819">
                  <a:moveTo>
                    <a:pt x="6696455" y="972311"/>
                  </a:moveTo>
                  <a:lnTo>
                    <a:pt x="0" y="972311"/>
                  </a:lnTo>
                  <a:lnTo>
                    <a:pt x="0" y="0"/>
                  </a:lnTo>
                  <a:lnTo>
                    <a:pt x="6696455" y="0"/>
                  </a:lnTo>
                  <a:lnTo>
                    <a:pt x="6696455" y="972311"/>
                  </a:lnTo>
                  <a:close/>
                </a:path>
              </a:pathLst>
            </a:custGeom>
            <a:solidFill>
              <a:srgbClr val="3B81F5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002907" y="2101850"/>
            <a:ext cx="6245225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4200" b="0" spc="-99" dirty="0">
                <a:solidFill>
                  <a:srgbClr val="FFFFFF"/>
                </a:solidFill>
                <a:latin typeface="Arial Black"/>
                <a:cs typeface="Arial Black"/>
              </a:rPr>
              <a:t>Brain</a:t>
            </a:r>
            <a:r>
              <a:rPr sz="4200" b="0" spc="-5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200" b="0" spc="-65" dirty="0">
                <a:solidFill>
                  <a:srgbClr val="FFFFFF"/>
                </a:solidFill>
                <a:latin typeface="Arial Black"/>
                <a:cs typeface="Arial Black"/>
              </a:rPr>
              <a:t>Tumor</a:t>
            </a:r>
            <a:r>
              <a:rPr sz="4200" b="0" spc="-5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200" b="0" spc="-126" dirty="0">
                <a:solidFill>
                  <a:srgbClr val="FFFFFF"/>
                </a:solidFill>
                <a:latin typeface="Arial Black"/>
                <a:cs typeface="Arial Black"/>
              </a:rPr>
              <a:t>Detection</a:t>
            </a:r>
            <a:endParaRPr sz="42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20219" y="3009899"/>
            <a:ext cx="6210300" cy="2362200"/>
            <a:chOff x="2990850" y="3009899"/>
            <a:chExt cx="6210300" cy="23622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4499" y="3009899"/>
              <a:ext cx="1142999" cy="380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990850" y="4000499"/>
              <a:ext cx="6210300" cy="1371600"/>
            </a:xfrm>
            <a:custGeom>
              <a:avLst/>
              <a:gdLst/>
              <a:ahLst/>
              <a:cxnLst/>
              <a:rect l="l" t="t" r="r" b="b"/>
              <a:pathLst>
                <a:path w="6210300" h="1371600">
                  <a:moveTo>
                    <a:pt x="6057899" y="1371599"/>
                  </a:moveTo>
                  <a:lnTo>
                    <a:pt x="152399" y="1371599"/>
                  </a:lnTo>
                  <a:lnTo>
                    <a:pt x="137387" y="1370874"/>
                  </a:lnTo>
                  <a:lnTo>
                    <a:pt x="94079" y="1359999"/>
                  </a:lnTo>
                  <a:lnTo>
                    <a:pt x="55765" y="1337065"/>
                  </a:lnTo>
                  <a:lnTo>
                    <a:pt x="25660" y="1303884"/>
                  </a:lnTo>
                  <a:lnTo>
                    <a:pt x="6525" y="1263373"/>
                  </a:lnTo>
                  <a:lnTo>
                    <a:pt x="0" y="121919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6057899" y="0"/>
                  </a:lnTo>
                  <a:lnTo>
                    <a:pt x="6102072" y="6525"/>
                  </a:lnTo>
                  <a:lnTo>
                    <a:pt x="6142583" y="25660"/>
                  </a:lnTo>
                  <a:lnTo>
                    <a:pt x="6175765" y="55765"/>
                  </a:lnTo>
                  <a:lnTo>
                    <a:pt x="6198698" y="94079"/>
                  </a:lnTo>
                  <a:lnTo>
                    <a:pt x="6209574" y="137387"/>
                  </a:lnTo>
                  <a:lnTo>
                    <a:pt x="6210299" y="152399"/>
                  </a:lnTo>
                  <a:lnTo>
                    <a:pt x="6210299" y="1219199"/>
                  </a:lnTo>
                  <a:lnTo>
                    <a:pt x="6203773" y="1263373"/>
                  </a:lnTo>
                  <a:lnTo>
                    <a:pt x="6184639" y="1303884"/>
                  </a:lnTo>
                  <a:lnTo>
                    <a:pt x="6154533" y="1337065"/>
                  </a:lnTo>
                  <a:lnTo>
                    <a:pt x="6116219" y="1359999"/>
                  </a:lnTo>
                  <a:lnTo>
                    <a:pt x="6072912" y="1370874"/>
                  </a:lnTo>
                  <a:lnTo>
                    <a:pt x="6057899" y="1371599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90850" y="4000499"/>
              <a:ext cx="6210300" cy="1371600"/>
            </a:xfrm>
            <a:custGeom>
              <a:avLst/>
              <a:gdLst/>
              <a:ahLst/>
              <a:cxnLst/>
              <a:rect l="l" t="t" r="r" b="b"/>
              <a:pathLst>
                <a:path w="6210299" h="1371600">
                  <a:moveTo>
                    <a:pt x="6057899" y="1371599"/>
                  </a:moveTo>
                  <a:lnTo>
                    <a:pt x="152399" y="1371599"/>
                  </a:lnTo>
                  <a:lnTo>
                    <a:pt x="137387" y="1370874"/>
                  </a:lnTo>
                  <a:lnTo>
                    <a:pt x="94079" y="1359999"/>
                  </a:lnTo>
                  <a:lnTo>
                    <a:pt x="55765" y="1337065"/>
                  </a:lnTo>
                  <a:lnTo>
                    <a:pt x="25607" y="1303796"/>
                  </a:lnTo>
                  <a:lnTo>
                    <a:pt x="6525" y="1263373"/>
                  </a:lnTo>
                  <a:lnTo>
                    <a:pt x="0" y="121919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9" y="11600"/>
                  </a:lnTo>
                  <a:lnTo>
                    <a:pt x="137387" y="725"/>
                  </a:lnTo>
                  <a:lnTo>
                    <a:pt x="6057899" y="0"/>
                  </a:lnTo>
                  <a:lnTo>
                    <a:pt x="6072912" y="725"/>
                  </a:lnTo>
                  <a:lnTo>
                    <a:pt x="6116220" y="11600"/>
                  </a:lnTo>
                  <a:lnTo>
                    <a:pt x="6131540" y="19049"/>
                  </a:lnTo>
                  <a:lnTo>
                    <a:pt x="152399" y="19049"/>
                  </a:lnTo>
                  <a:lnTo>
                    <a:pt x="145848" y="19210"/>
                  </a:lnTo>
                  <a:lnTo>
                    <a:pt x="107482" y="26841"/>
                  </a:lnTo>
                  <a:lnTo>
                    <a:pt x="72956" y="45296"/>
                  </a:lnTo>
                  <a:lnTo>
                    <a:pt x="45296" y="72956"/>
                  </a:lnTo>
                  <a:lnTo>
                    <a:pt x="26841" y="107482"/>
                  </a:lnTo>
                  <a:lnTo>
                    <a:pt x="19210" y="145848"/>
                  </a:lnTo>
                  <a:lnTo>
                    <a:pt x="19049" y="152399"/>
                  </a:lnTo>
                  <a:lnTo>
                    <a:pt x="19049" y="1219199"/>
                  </a:lnTo>
                  <a:lnTo>
                    <a:pt x="24790" y="1257909"/>
                  </a:lnTo>
                  <a:lnTo>
                    <a:pt x="41523" y="1293284"/>
                  </a:lnTo>
                  <a:lnTo>
                    <a:pt x="67802" y="1322281"/>
                  </a:lnTo>
                  <a:lnTo>
                    <a:pt x="101369" y="1342399"/>
                  </a:lnTo>
                  <a:lnTo>
                    <a:pt x="139329" y="1351909"/>
                  </a:lnTo>
                  <a:lnTo>
                    <a:pt x="152399" y="1352549"/>
                  </a:lnTo>
                  <a:lnTo>
                    <a:pt x="6131540" y="1352549"/>
                  </a:lnTo>
                  <a:lnTo>
                    <a:pt x="6129812" y="1353583"/>
                  </a:lnTo>
                  <a:lnTo>
                    <a:pt x="6116219" y="1359999"/>
                  </a:lnTo>
                  <a:lnTo>
                    <a:pt x="6102072" y="1365074"/>
                  </a:lnTo>
                  <a:lnTo>
                    <a:pt x="6087636" y="1368699"/>
                  </a:lnTo>
                  <a:lnTo>
                    <a:pt x="6072912" y="1370874"/>
                  </a:lnTo>
                  <a:lnTo>
                    <a:pt x="6057899" y="1371599"/>
                  </a:lnTo>
                  <a:close/>
                </a:path>
                <a:path w="6210299" h="1371600">
                  <a:moveTo>
                    <a:pt x="6131540" y="1352549"/>
                  </a:moveTo>
                  <a:lnTo>
                    <a:pt x="6057899" y="1352549"/>
                  </a:lnTo>
                  <a:lnTo>
                    <a:pt x="6064450" y="1352389"/>
                  </a:lnTo>
                  <a:lnTo>
                    <a:pt x="6070970" y="1351909"/>
                  </a:lnTo>
                  <a:lnTo>
                    <a:pt x="6108929" y="1342399"/>
                  </a:lnTo>
                  <a:lnTo>
                    <a:pt x="6142495" y="1322281"/>
                  </a:lnTo>
                  <a:lnTo>
                    <a:pt x="6168775" y="1293284"/>
                  </a:lnTo>
                  <a:lnTo>
                    <a:pt x="6185508" y="1257909"/>
                  </a:lnTo>
                  <a:lnTo>
                    <a:pt x="6191249" y="1219199"/>
                  </a:lnTo>
                  <a:lnTo>
                    <a:pt x="6191249" y="152399"/>
                  </a:lnTo>
                  <a:lnTo>
                    <a:pt x="6185508" y="113690"/>
                  </a:lnTo>
                  <a:lnTo>
                    <a:pt x="6168775" y="78314"/>
                  </a:lnTo>
                  <a:lnTo>
                    <a:pt x="6142495" y="49317"/>
                  </a:lnTo>
                  <a:lnTo>
                    <a:pt x="6108929" y="29200"/>
                  </a:lnTo>
                  <a:lnTo>
                    <a:pt x="6070970" y="19690"/>
                  </a:lnTo>
                  <a:lnTo>
                    <a:pt x="6057899" y="19049"/>
                  </a:lnTo>
                  <a:lnTo>
                    <a:pt x="6131540" y="19049"/>
                  </a:lnTo>
                  <a:lnTo>
                    <a:pt x="6165662" y="44636"/>
                  </a:lnTo>
                  <a:lnTo>
                    <a:pt x="6192283" y="80486"/>
                  </a:lnTo>
                  <a:lnTo>
                    <a:pt x="6207399" y="122662"/>
                  </a:lnTo>
                  <a:lnTo>
                    <a:pt x="6210299" y="1219199"/>
                  </a:lnTo>
                  <a:lnTo>
                    <a:pt x="6209668" y="1232270"/>
                  </a:lnTo>
                  <a:lnTo>
                    <a:pt x="6198698" y="1277520"/>
                  </a:lnTo>
                  <a:lnTo>
                    <a:pt x="6175765" y="1315834"/>
                  </a:lnTo>
                  <a:lnTo>
                    <a:pt x="6142583" y="1345939"/>
                  </a:lnTo>
                  <a:lnTo>
                    <a:pt x="6131540" y="1352549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222700" y="3359150"/>
            <a:ext cx="380555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pc="-40" dirty="0">
                <a:solidFill>
                  <a:srgbClr val="3B81F5"/>
                </a:solidFill>
                <a:latin typeface="Arial Black"/>
                <a:cs typeface="Arial Black"/>
              </a:rPr>
              <a:t>Programming</a:t>
            </a:r>
            <a:r>
              <a:rPr spc="-141" dirty="0">
                <a:solidFill>
                  <a:srgbClr val="3B81F5"/>
                </a:solidFill>
                <a:latin typeface="Arial Black"/>
                <a:cs typeface="Arial Black"/>
              </a:rPr>
              <a:t> </a:t>
            </a:r>
            <a:r>
              <a:rPr spc="-80" dirty="0">
                <a:solidFill>
                  <a:srgbClr val="3B81F5"/>
                </a:solidFill>
                <a:latin typeface="Arial Black"/>
                <a:cs typeface="Arial Black"/>
              </a:rPr>
              <a:t>for</a:t>
            </a:r>
            <a:r>
              <a:rPr spc="-141" dirty="0">
                <a:solidFill>
                  <a:srgbClr val="3B81F5"/>
                </a:solidFill>
                <a:latin typeface="Arial Black"/>
                <a:cs typeface="Arial Black"/>
              </a:rPr>
              <a:t> </a:t>
            </a:r>
            <a:r>
              <a:rPr spc="-165" dirty="0">
                <a:solidFill>
                  <a:srgbClr val="3B81F5"/>
                </a:solidFill>
                <a:latin typeface="Arial Black"/>
                <a:cs typeface="Arial Black"/>
              </a:rPr>
              <a:t>AI</a:t>
            </a:r>
            <a:r>
              <a:rPr spc="-141" dirty="0">
                <a:solidFill>
                  <a:srgbClr val="3B81F5"/>
                </a:solidFill>
                <a:latin typeface="Arial Black"/>
                <a:cs typeface="Arial Black"/>
              </a:rPr>
              <a:t> </a:t>
            </a:r>
            <a:r>
              <a:rPr spc="-75" dirty="0">
                <a:solidFill>
                  <a:srgbClr val="3B81F5"/>
                </a:solidFill>
                <a:latin typeface="Arial Black"/>
                <a:cs typeface="Arial Black"/>
              </a:rPr>
              <a:t>(ABAI5003L)</a:t>
            </a:r>
            <a:endParaRPr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61693" y="4330700"/>
            <a:ext cx="3727450" cy="6924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99"/>
              </a:spcBef>
            </a:pPr>
            <a:r>
              <a:rPr sz="1500" spc="-55" dirty="0">
                <a:solidFill>
                  <a:srgbClr val="3B81F5"/>
                </a:solidFill>
                <a:latin typeface="Arial Black"/>
                <a:cs typeface="Arial Black"/>
              </a:rPr>
              <a:t>Submitted</a:t>
            </a:r>
            <a:r>
              <a:rPr sz="1500" spc="-119" dirty="0">
                <a:solidFill>
                  <a:srgbClr val="3B81F5"/>
                </a:solidFill>
                <a:latin typeface="Arial Black"/>
                <a:cs typeface="Arial Black"/>
              </a:rPr>
              <a:t> </a:t>
            </a:r>
            <a:r>
              <a:rPr sz="1500" spc="-45" dirty="0">
                <a:solidFill>
                  <a:srgbClr val="3B81F5"/>
                </a:solidFill>
                <a:latin typeface="Arial Black"/>
                <a:cs typeface="Arial Black"/>
              </a:rPr>
              <a:t>by:</a:t>
            </a:r>
            <a:r>
              <a:rPr sz="1500" spc="-65" dirty="0">
                <a:solidFill>
                  <a:srgbClr val="3B81F5"/>
                </a:solidFill>
                <a:latin typeface="Arial Black"/>
                <a:cs typeface="Arial Black"/>
              </a:rPr>
              <a:t> </a:t>
            </a:r>
            <a:r>
              <a:rPr sz="1500" spc="45" dirty="0">
                <a:solidFill>
                  <a:srgbClr val="E2E7F0"/>
                </a:solidFill>
                <a:latin typeface="Lucida Sans Unicode"/>
                <a:cs typeface="Lucida Sans Unicode"/>
              </a:rPr>
              <a:t>Sourabh</a:t>
            </a:r>
            <a:r>
              <a:rPr sz="1500" spc="-40" dirty="0">
                <a:solidFill>
                  <a:srgbClr val="E2E7F0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E2E7F0"/>
                </a:solidFill>
                <a:latin typeface="Lucida Sans Unicode"/>
                <a:cs typeface="Lucida Sans Unicode"/>
              </a:rPr>
              <a:t>(A25MTAI0007)</a:t>
            </a:r>
            <a:endParaRPr sz="1500">
              <a:latin typeface="Lucida Sans Unicode"/>
              <a:cs typeface="Lucida Sans Unicode"/>
            </a:endParaRPr>
          </a:p>
          <a:p>
            <a:pPr algn="ctr">
              <a:spcBef>
                <a:spcPts val="1650"/>
              </a:spcBef>
            </a:pPr>
            <a:r>
              <a:rPr sz="1500" spc="-55" dirty="0">
                <a:solidFill>
                  <a:srgbClr val="3B81F5"/>
                </a:solidFill>
                <a:latin typeface="Arial Black"/>
                <a:cs typeface="Arial Black"/>
              </a:rPr>
              <a:t>Submitted</a:t>
            </a:r>
            <a:r>
              <a:rPr sz="1500" spc="-95" dirty="0">
                <a:solidFill>
                  <a:srgbClr val="3B81F5"/>
                </a:solidFill>
                <a:latin typeface="Arial Black"/>
                <a:cs typeface="Arial Black"/>
              </a:rPr>
              <a:t> </a:t>
            </a:r>
            <a:r>
              <a:rPr sz="1500" spc="-90" dirty="0">
                <a:solidFill>
                  <a:srgbClr val="3B81F5"/>
                </a:solidFill>
                <a:latin typeface="Arial Black"/>
                <a:cs typeface="Arial Black"/>
              </a:rPr>
              <a:t>to:</a:t>
            </a:r>
            <a:r>
              <a:rPr sz="1500" spc="-40" dirty="0">
                <a:solidFill>
                  <a:srgbClr val="3B81F5"/>
                </a:solidFill>
                <a:latin typeface="Arial Black"/>
                <a:cs typeface="Arial Black"/>
              </a:rPr>
              <a:t> </a:t>
            </a:r>
            <a:r>
              <a:rPr sz="1500" spc="-99" dirty="0">
                <a:solidFill>
                  <a:srgbClr val="E2E7F0"/>
                </a:solidFill>
                <a:latin typeface="Lucida Sans Unicode"/>
                <a:cs typeface="Lucida Sans Unicode"/>
              </a:rPr>
              <a:t>Dr.</a:t>
            </a:r>
            <a:r>
              <a:rPr sz="1500" spc="-10" dirty="0">
                <a:solidFill>
                  <a:srgbClr val="E2E7F0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E2E7F0"/>
                </a:solidFill>
                <a:latin typeface="Lucida Sans Unicode"/>
                <a:cs typeface="Lucida Sans Unicode"/>
              </a:rPr>
              <a:t>Shakshi</a:t>
            </a:r>
            <a:r>
              <a:rPr sz="1500" spc="-15" dirty="0">
                <a:solidFill>
                  <a:srgbClr val="E2E7F0"/>
                </a:solidFill>
                <a:latin typeface="Lucida Sans Unicode"/>
                <a:cs typeface="Lucida Sans Unicode"/>
              </a:rPr>
              <a:t> </a:t>
            </a:r>
            <a:r>
              <a:rPr sz="1500" spc="80" dirty="0">
                <a:solidFill>
                  <a:srgbClr val="E2E7F0"/>
                </a:solidFill>
                <a:latin typeface="Lucida Sans Unicode"/>
                <a:cs typeface="Lucida Sans Unicode"/>
              </a:rPr>
              <a:t>Sharma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99262" y="5683250"/>
            <a:ext cx="2652395" cy="520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351" spc="-80" dirty="0">
                <a:solidFill>
                  <a:srgbClr val="0FB981"/>
                </a:solidFill>
                <a:latin typeface="Arial Black"/>
                <a:cs typeface="Arial Black"/>
              </a:rPr>
              <a:t>School</a:t>
            </a:r>
            <a:r>
              <a:rPr sz="1351" spc="-85" dirty="0">
                <a:solidFill>
                  <a:srgbClr val="0FB981"/>
                </a:solidFill>
                <a:latin typeface="Arial Black"/>
                <a:cs typeface="Arial Black"/>
              </a:rPr>
              <a:t> </a:t>
            </a:r>
            <a:r>
              <a:rPr sz="1351" spc="-60" dirty="0">
                <a:solidFill>
                  <a:srgbClr val="0FB981"/>
                </a:solidFill>
                <a:latin typeface="Arial Black"/>
                <a:cs typeface="Arial Black"/>
              </a:rPr>
              <a:t>of</a:t>
            </a:r>
            <a:r>
              <a:rPr sz="1351" spc="-80" dirty="0">
                <a:solidFill>
                  <a:srgbClr val="0FB981"/>
                </a:solidFill>
                <a:latin typeface="Arial Black"/>
                <a:cs typeface="Arial Black"/>
              </a:rPr>
              <a:t> </a:t>
            </a:r>
            <a:r>
              <a:rPr sz="1351" spc="-75" dirty="0">
                <a:solidFill>
                  <a:srgbClr val="0FB981"/>
                </a:solidFill>
                <a:latin typeface="Arial Black"/>
                <a:cs typeface="Arial Black"/>
              </a:rPr>
              <a:t>Artificial</a:t>
            </a:r>
            <a:r>
              <a:rPr sz="1351" spc="-80" dirty="0">
                <a:solidFill>
                  <a:srgbClr val="0FB981"/>
                </a:solidFill>
                <a:latin typeface="Arial Black"/>
                <a:cs typeface="Arial Black"/>
              </a:rPr>
              <a:t> </a:t>
            </a:r>
            <a:r>
              <a:rPr sz="1351" spc="-60" dirty="0">
                <a:solidFill>
                  <a:srgbClr val="0FB981"/>
                </a:solidFill>
                <a:latin typeface="Arial Black"/>
                <a:cs typeface="Arial Black"/>
              </a:rPr>
              <a:t>Intelligence</a:t>
            </a:r>
            <a:endParaRPr sz="1351">
              <a:latin typeface="Arial Black"/>
              <a:cs typeface="Arial Black"/>
            </a:endParaRPr>
          </a:p>
          <a:p>
            <a:pPr marL="38102">
              <a:spcBef>
                <a:spcPts val="930"/>
              </a:spcBef>
            </a:pPr>
            <a:r>
              <a:rPr sz="1200" dirty="0">
                <a:solidFill>
                  <a:srgbClr val="94A2B8"/>
                </a:solidFill>
                <a:latin typeface="Lucida Sans Unicode"/>
                <a:cs typeface="Lucida Sans Unicode"/>
              </a:rPr>
              <a:t>Bennett</a:t>
            </a:r>
            <a:r>
              <a:rPr sz="1200" spc="80" dirty="0">
                <a:solidFill>
                  <a:srgbClr val="94A2B8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94A2B8"/>
                </a:solidFill>
                <a:latin typeface="Lucida Sans Unicode"/>
                <a:cs typeface="Lucida Sans Unicode"/>
              </a:rPr>
              <a:t>University</a:t>
            </a:r>
            <a:r>
              <a:rPr sz="1200" spc="80" dirty="0">
                <a:solidFill>
                  <a:srgbClr val="94A2B8"/>
                </a:solidFill>
                <a:latin typeface="Lucida Sans Unicode"/>
                <a:cs typeface="Lucida Sans Unicode"/>
              </a:rPr>
              <a:t> </a:t>
            </a:r>
            <a:r>
              <a:rPr sz="1200" spc="-109" dirty="0">
                <a:solidFill>
                  <a:srgbClr val="94A2B8"/>
                </a:solidFill>
                <a:latin typeface="Lucida Sans Unicode"/>
                <a:cs typeface="Lucida Sans Unicode"/>
              </a:rPr>
              <a:t>|</a:t>
            </a:r>
            <a:r>
              <a:rPr sz="1200" spc="85" dirty="0">
                <a:solidFill>
                  <a:srgbClr val="94A2B8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94A2B8"/>
                </a:solidFill>
                <a:latin typeface="Lucida Sans Unicode"/>
                <a:cs typeface="Lucida Sans Unicode"/>
              </a:rPr>
              <a:t>July-Dec</a:t>
            </a:r>
            <a:r>
              <a:rPr sz="1200" spc="80" dirty="0">
                <a:solidFill>
                  <a:srgbClr val="94A2B8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94A2B8"/>
                </a:solidFill>
                <a:latin typeface="Lucida Sans Unicode"/>
                <a:cs typeface="Lucida Sans Unicode"/>
              </a:rPr>
              <a:t>2025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69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1833" y="406402"/>
            <a:ext cx="6679775" cy="572593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6197">
              <a:spcBef>
                <a:spcPts val="99"/>
              </a:spcBef>
            </a:pPr>
            <a:r>
              <a:rPr spc="450" dirty="0"/>
              <a:t>Abstract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18343" y="1066799"/>
            <a:ext cx="6955791" cy="5516881"/>
            <a:chOff x="188975" y="1066799"/>
            <a:chExt cx="6955790" cy="5516880"/>
          </a:xfrm>
        </p:grpSpPr>
        <p:sp>
          <p:nvSpPr>
            <p:cNvPr id="5" name="object 5"/>
            <p:cNvSpPr/>
            <p:nvPr/>
          </p:nvSpPr>
          <p:spPr>
            <a:xfrm>
              <a:off x="188975" y="1066799"/>
              <a:ext cx="6955790" cy="5516880"/>
            </a:xfrm>
            <a:custGeom>
              <a:avLst/>
              <a:gdLst/>
              <a:ahLst/>
              <a:cxnLst/>
              <a:rect l="l" t="t" r="r" b="b"/>
              <a:pathLst>
                <a:path w="6955790" h="5516880">
                  <a:moveTo>
                    <a:pt x="6955535" y="5516879"/>
                  </a:moveTo>
                  <a:lnTo>
                    <a:pt x="0" y="5516879"/>
                  </a:lnTo>
                  <a:lnTo>
                    <a:pt x="0" y="0"/>
                  </a:lnTo>
                  <a:lnTo>
                    <a:pt x="6955535" y="0"/>
                  </a:lnTo>
                  <a:lnTo>
                    <a:pt x="6955535" y="238124"/>
                  </a:lnTo>
                  <a:lnTo>
                    <a:pt x="382523" y="238124"/>
                  </a:lnTo>
                  <a:lnTo>
                    <a:pt x="372202" y="238623"/>
                  </a:lnTo>
                  <a:lnTo>
                    <a:pt x="333083" y="250510"/>
                  </a:lnTo>
                  <a:lnTo>
                    <a:pt x="301490" y="276463"/>
                  </a:lnTo>
                  <a:lnTo>
                    <a:pt x="282235" y="312530"/>
                  </a:lnTo>
                  <a:lnTo>
                    <a:pt x="277748" y="342899"/>
                  </a:lnTo>
                  <a:lnTo>
                    <a:pt x="277748" y="5095874"/>
                  </a:lnTo>
                  <a:lnTo>
                    <a:pt x="285724" y="5135969"/>
                  </a:lnTo>
                  <a:lnTo>
                    <a:pt x="308436" y="5169961"/>
                  </a:lnTo>
                  <a:lnTo>
                    <a:pt x="342428" y="5192673"/>
                  </a:lnTo>
                  <a:lnTo>
                    <a:pt x="382523" y="5200649"/>
                  </a:lnTo>
                  <a:lnTo>
                    <a:pt x="6955535" y="5200649"/>
                  </a:lnTo>
                  <a:lnTo>
                    <a:pt x="6955535" y="5516879"/>
                  </a:lnTo>
                  <a:close/>
                </a:path>
                <a:path w="6955790" h="5516880">
                  <a:moveTo>
                    <a:pt x="6955535" y="5200649"/>
                  </a:moveTo>
                  <a:lnTo>
                    <a:pt x="6573773" y="5200649"/>
                  </a:lnTo>
                  <a:lnTo>
                    <a:pt x="6584095" y="5200150"/>
                  </a:lnTo>
                  <a:lnTo>
                    <a:pt x="6594218" y="5198655"/>
                  </a:lnTo>
                  <a:lnTo>
                    <a:pt x="6631994" y="5183007"/>
                  </a:lnTo>
                  <a:lnTo>
                    <a:pt x="6660907" y="5154094"/>
                  </a:lnTo>
                  <a:lnTo>
                    <a:pt x="6676554" y="5116318"/>
                  </a:lnTo>
                  <a:lnTo>
                    <a:pt x="6678548" y="5095874"/>
                  </a:lnTo>
                  <a:lnTo>
                    <a:pt x="6678548" y="342899"/>
                  </a:lnTo>
                  <a:lnTo>
                    <a:pt x="6670573" y="302804"/>
                  </a:lnTo>
                  <a:lnTo>
                    <a:pt x="6647860" y="268812"/>
                  </a:lnTo>
                  <a:lnTo>
                    <a:pt x="6613868" y="246100"/>
                  </a:lnTo>
                  <a:lnTo>
                    <a:pt x="6573773" y="238124"/>
                  </a:lnTo>
                  <a:lnTo>
                    <a:pt x="6955535" y="238124"/>
                  </a:lnTo>
                  <a:lnTo>
                    <a:pt x="6955535" y="5200649"/>
                  </a:lnTo>
                  <a:close/>
                </a:path>
              </a:pathLst>
            </a:custGeom>
            <a:solidFill>
              <a:srgbClr val="1D3A8A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6249" y="1295399"/>
              <a:ext cx="6400800" cy="4981575"/>
            </a:xfrm>
            <a:custGeom>
              <a:avLst/>
              <a:gdLst/>
              <a:ahLst/>
              <a:cxnLst/>
              <a:rect l="l" t="t" r="r" b="b"/>
              <a:pathLst>
                <a:path w="6400800" h="4981575">
                  <a:moveTo>
                    <a:pt x="6294004" y="4981574"/>
                  </a:moveTo>
                  <a:lnTo>
                    <a:pt x="88995" y="4981574"/>
                  </a:lnTo>
                  <a:lnTo>
                    <a:pt x="82801" y="4980842"/>
                  </a:lnTo>
                  <a:lnTo>
                    <a:pt x="37131" y="4958141"/>
                  </a:lnTo>
                  <a:lnTo>
                    <a:pt x="12577" y="4924535"/>
                  </a:lnTo>
                  <a:lnTo>
                    <a:pt x="610" y="4882212"/>
                  </a:lnTo>
                  <a:lnTo>
                    <a:pt x="0" y="4874779"/>
                  </a:lnTo>
                  <a:lnTo>
                    <a:pt x="0" y="4867274"/>
                  </a:lnTo>
                  <a:lnTo>
                    <a:pt x="0" y="106794"/>
                  </a:lnTo>
                  <a:lnTo>
                    <a:pt x="9643" y="63625"/>
                  </a:lnTo>
                  <a:lnTo>
                    <a:pt x="32320" y="28170"/>
                  </a:lnTo>
                  <a:lnTo>
                    <a:pt x="64577" y="5828"/>
                  </a:lnTo>
                  <a:lnTo>
                    <a:pt x="88995" y="0"/>
                  </a:lnTo>
                  <a:lnTo>
                    <a:pt x="6294004" y="0"/>
                  </a:lnTo>
                  <a:lnTo>
                    <a:pt x="6337173" y="11572"/>
                  </a:lnTo>
                  <a:lnTo>
                    <a:pt x="6372627" y="38784"/>
                  </a:lnTo>
                  <a:lnTo>
                    <a:pt x="6394970" y="77493"/>
                  </a:lnTo>
                  <a:lnTo>
                    <a:pt x="6400799" y="106794"/>
                  </a:lnTo>
                  <a:lnTo>
                    <a:pt x="6400799" y="4874779"/>
                  </a:lnTo>
                  <a:lnTo>
                    <a:pt x="6389225" y="4917948"/>
                  </a:lnTo>
                  <a:lnTo>
                    <a:pt x="6362014" y="4953403"/>
                  </a:lnTo>
                  <a:lnTo>
                    <a:pt x="6323306" y="4975745"/>
                  </a:lnTo>
                  <a:lnTo>
                    <a:pt x="6301436" y="4980842"/>
                  </a:lnTo>
                  <a:lnTo>
                    <a:pt x="6294004" y="4981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199" y="1295399"/>
              <a:ext cx="114300" cy="4981575"/>
            </a:xfrm>
            <a:custGeom>
              <a:avLst/>
              <a:gdLst/>
              <a:ahLst/>
              <a:cxnLst/>
              <a:rect l="l" t="t" r="r" b="b"/>
              <a:pathLst>
                <a:path w="114300" h="4981575">
                  <a:moveTo>
                    <a:pt x="114300" y="4981574"/>
                  </a:moveTo>
                  <a:lnTo>
                    <a:pt x="70559" y="4972873"/>
                  </a:lnTo>
                  <a:lnTo>
                    <a:pt x="33477" y="4948096"/>
                  </a:lnTo>
                  <a:lnTo>
                    <a:pt x="8700" y="4911014"/>
                  </a:lnTo>
                  <a:lnTo>
                    <a:pt x="0" y="4867274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6793" y="543"/>
                  </a:lnTo>
                  <a:lnTo>
                    <a:pt x="99431" y="2175"/>
                  </a:lnTo>
                  <a:lnTo>
                    <a:pt x="65982" y="25900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4867274"/>
                  </a:lnTo>
                  <a:lnTo>
                    <a:pt x="43900" y="4911014"/>
                  </a:lnTo>
                  <a:lnTo>
                    <a:pt x="60418" y="4948096"/>
                  </a:lnTo>
                  <a:lnTo>
                    <a:pt x="92213" y="4976680"/>
                  </a:lnTo>
                  <a:lnTo>
                    <a:pt x="106793" y="4981030"/>
                  </a:lnTo>
                  <a:lnTo>
                    <a:pt x="114300" y="49815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21570" y="1606552"/>
            <a:ext cx="984250" cy="220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351" b="1" spc="21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Challenge</a:t>
            </a:r>
            <a:endParaRPr sz="1351">
              <a:latin typeface="Adobe Clean SemiCondensed"/>
              <a:cs typeface="Adobe Clean SemiCondense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6768" y="1597025"/>
            <a:ext cx="2159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500" spc="50" dirty="0">
                <a:solidFill>
                  <a:srgbClr val="3B81F5"/>
                </a:solidFill>
                <a:latin typeface="Segoe UI Symbol"/>
                <a:cs typeface="Segoe UI Symbol"/>
              </a:rPr>
              <a:t>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6769" y="1913254"/>
            <a:ext cx="5692140" cy="40457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84" marR="191147">
              <a:lnSpc>
                <a:spcPct val="135400"/>
              </a:lnSpc>
              <a:spcBef>
                <a:spcPts val="99"/>
              </a:spcBef>
            </a:pP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Manual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104" dirty="0">
                <a:solidFill>
                  <a:srgbClr val="334054"/>
                </a:solidFill>
                <a:latin typeface="Trebuchet MS"/>
                <a:cs typeface="Trebuchet MS"/>
              </a:rPr>
              <a:t>MRI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90" dirty="0">
                <a:solidFill>
                  <a:srgbClr val="334054"/>
                </a:solidFill>
                <a:latin typeface="Trebuchet MS"/>
                <a:cs typeface="Trebuchet MS"/>
              </a:rPr>
              <a:t>diagnosis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is</a:t>
            </a:r>
            <a:r>
              <a:rPr sz="1200" spc="3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time-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consuming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and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prone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to</a:t>
            </a:r>
            <a:r>
              <a:rPr sz="1200" spc="3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119" dirty="0">
                <a:solidFill>
                  <a:srgbClr val="334054"/>
                </a:solidFill>
                <a:latin typeface="Trebuchet MS"/>
                <a:cs typeface="Trebuchet MS"/>
              </a:rPr>
              <a:t>human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34054"/>
                </a:solidFill>
                <a:latin typeface="Trebuchet MS"/>
                <a:cs typeface="Trebuchet MS"/>
              </a:rPr>
              <a:t>error, 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requiring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precise</a:t>
            </a:r>
            <a:r>
              <a:rPr sz="1200" spc="3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and</a:t>
            </a:r>
            <a:r>
              <a:rPr sz="1200" spc="3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fast</a:t>
            </a:r>
            <a:r>
              <a:rPr sz="1200" spc="3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automated</a:t>
            </a:r>
            <a:r>
              <a:rPr sz="1200" spc="3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45" dirty="0">
                <a:solidFill>
                  <a:srgbClr val="334054"/>
                </a:solidFill>
                <a:latin typeface="Trebuchet MS"/>
                <a:cs typeface="Trebuchet MS"/>
              </a:rPr>
              <a:t>solutions.</a:t>
            </a:r>
            <a:endParaRPr sz="1200">
              <a:latin typeface="Trebuchet MS"/>
              <a:cs typeface="Trebuchet MS"/>
            </a:endParaRPr>
          </a:p>
          <a:p>
            <a:pPr>
              <a:spcBef>
                <a:spcPts val="765"/>
              </a:spcBef>
            </a:pPr>
            <a:endParaRPr sz="1200">
              <a:latin typeface="Trebuchet MS"/>
              <a:cs typeface="Trebuchet MS"/>
            </a:endParaRPr>
          </a:p>
          <a:p>
            <a:pPr marL="12701"/>
            <a:r>
              <a:rPr sz="1500" spc="825" dirty="0">
                <a:solidFill>
                  <a:srgbClr val="3B81F5"/>
                </a:solidFill>
                <a:latin typeface="Segoe UI Symbol"/>
                <a:cs typeface="Segoe UI Symbol"/>
              </a:rPr>
              <a:t></a:t>
            </a:r>
            <a:r>
              <a:rPr sz="1500" spc="484" dirty="0">
                <a:solidFill>
                  <a:srgbClr val="3B81F5"/>
                </a:solidFill>
                <a:latin typeface="Segoe UI Symbol"/>
                <a:cs typeface="Segoe UI Symbol"/>
              </a:rPr>
              <a:t> </a:t>
            </a:r>
            <a:r>
              <a:rPr sz="1351" b="1" spc="16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AI</a:t>
            </a:r>
            <a:r>
              <a:rPr sz="1351" b="1" spc="17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19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Solution</a:t>
            </a:r>
            <a:endParaRPr sz="1351">
              <a:latin typeface="Adobe Clean SemiCondensed"/>
              <a:cs typeface="Adobe Clean SemiCondensed"/>
            </a:endParaRPr>
          </a:p>
          <a:p>
            <a:pPr marL="316884" marR="5081">
              <a:lnSpc>
                <a:spcPct val="130200"/>
              </a:lnSpc>
              <a:spcBef>
                <a:spcPts val="839"/>
              </a:spcBef>
            </a:pPr>
            <a:r>
              <a:rPr sz="1200" spc="109" dirty="0">
                <a:solidFill>
                  <a:srgbClr val="334054"/>
                </a:solidFill>
                <a:latin typeface="Trebuchet MS"/>
                <a:cs typeface="Trebuchet MS"/>
              </a:rPr>
              <a:t>Deep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learning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20" dirty="0">
                <a:solidFill>
                  <a:srgbClr val="334054"/>
                </a:solidFill>
                <a:latin typeface="Trebuchet MS"/>
                <a:cs typeface="Trebuchet MS"/>
              </a:rPr>
              <a:t>with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119" dirty="0">
                <a:solidFill>
                  <a:srgbClr val="334054"/>
                </a:solidFill>
                <a:latin typeface="Trebuchet MS"/>
                <a:cs typeface="Trebuchet MS"/>
              </a:rPr>
              <a:t>VGG16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126" dirty="0">
                <a:solidFill>
                  <a:srgbClr val="334054"/>
                </a:solidFill>
                <a:latin typeface="Trebuchet MS"/>
                <a:cs typeface="Trebuchet MS"/>
              </a:rPr>
              <a:t>CNN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20" dirty="0">
                <a:solidFill>
                  <a:srgbClr val="334054"/>
                </a:solidFill>
                <a:latin typeface="Trebuchet MS"/>
                <a:cs typeface="Trebuchet MS"/>
              </a:rPr>
              <a:t>architecture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95" dirty="0">
                <a:solidFill>
                  <a:srgbClr val="334054"/>
                </a:solidFill>
                <a:latin typeface="Trebuchet MS"/>
                <a:cs typeface="Trebuchet MS"/>
              </a:rPr>
              <a:t>using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transfer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learning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334054"/>
                </a:solidFill>
                <a:latin typeface="Trebuchet MS"/>
                <a:cs typeface="Trebuchet MS"/>
              </a:rPr>
              <a:t>to 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automatically</a:t>
            </a:r>
            <a:r>
              <a:rPr sz="1200" spc="2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classify</a:t>
            </a:r>
            <a:r>
              <a:rPr sz="1200" spc="2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brain</a:t>
            </a:r>
            <a:r>
              <a:rPr sz="1200" spc="2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85" dirty="0">
                <a:solidFill>
                  <a:srgbClr val="334054"/>
                </a:solidFill>
                <a:latin typeface="Trebuchet MS"/>
                <a:cs typeface="Trebuchet MS"/>
              </a:rPr>
              <a:t>tumors</a:t>
            </a:r>
            <a:r>
              <a:rPr sz="1200" spc="2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from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104" dirty="0">
                <a:solidFill>
                  <a:srgbClr val="334054"/>
                </a:solidFill>
                <a:latin typeface="Trebuchet MS"/>
                <a:cs typeface="Trebuchet MS"/>
              </a:rPr>
              <a:t>MRI</a:t>
            </a:r>
            <a:r>
              <a:rPr sz="1200" spc="2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images.</a:t>
            </a:r>
            <a:endParaRPr sz="1200">
              <a:latin typeface="Trebuchet MS"/>
              <a:cs typeface="Trebuchet MS"/>
            </a:endParaRPr>
          </a:p>
          <a:p>
            <a:pPr>
              <a:spcBef>
                <a:spcPts val="765"/>
              </a:spcBef>
            </a:pPr>
            <a:endParaRPr sz="1200">
              <a:latin typeface="Trebuchet MS"/>
              <a:cs typeface="Trebuchet MS"/>
            </a:endParaRPr>
          </a:p>
          <a:p>
            <a:pPr marL="12701"/>
            <a:r>
              <a:rPr sz="1500" spc="1410" dirty="0">
                <a:solidFill>
                  <a:srgbClr val="3B81F5"/>
                </a:solidFill>
                <a:latin typeface="Segoe UI Symbol"/>
                <a:cs typeface="Segoe UI Symbol"/>
              </a:rPr>
              <a:t></a:t>
            </a:r>
            <a:r>
              <a:rPr sz="1500" spc="484" dirty="0">
                <a:solidFill>
                  <a:srgbClr val="3B81F5"/>
                </a:solidFill>
                <a:latin typeface="Segoe UI Symbol"/>
                <a:cs typeface="Segoe UI Symbol"/>
              </a:rPr>
              <a:t> </a:t>
            </a:r>
            <a:r>
              <a:rPr sz="1351" b="1" spc="204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Methodology</a:t>
            </a:r>
            <a:endParaRPr sz="1351">
              <a:latin typeface="Adobe Clean SemiCondensed"/>
              <a:cs typeface="Adobe Clean SemiCondensed"/>
            </a:endParaRPr>
          </a:p>
          <a:p>
            <a:pPr marL="316884" marR="100335">
              <a:lnSpc>
                <a:spcPct val="132800"/>
              </a:lnSpc>
              <a:spcBef>
                <a:spcPts val="805"/>
              </a:spcBef>
            </a:pPr>
            <a:r>
              <a:rPr sz="1200" spc="85" dirty="0">
                <a:solidFill>
                  <a:srgbClr val="334054"/>
                </a:solidFill>
                <a:latin typeface="Trebuchet MS"/>
                <a:cs typeface="Trebuchet MS"/>
              </a:rPr>
              <a:t>Comprehensive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preprocessing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pipeline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 including </a:t>
            </a:r>
            <a:r>
              <a:rPr sz="1200" spc="-10" dirty="0">
                <a:solidFill>
                  <a:srgbClr val="334054"/>
                </a:solidFill>
                <a:latin typeface="Trebuchet MS"/>
                <a:cs typeface="Trebuchet MS"/>
              </a:rPr>
              <a:t>resizing, </a:t>
            </a: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normalization,</a:t>
            </a:r>
            <a:r>
              <a:rPr sz="1200" spc="8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noise</a:t>
            </a:r>
            <a:r>
              <a:rPr sz="1200" spc="8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334054"/>
                </a:solidFill>
                <a:latin typeface="Trebuchet MS"/>
                <a:cs typeface="Trebuchet MS"/>
              </a:rPr>
              <a:t>reduction,</a:t>
            </a:r>
            <a:r>
              <a:rPr sz="1200" spc="9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and</a:t>
            </a:r>
            <a:r>
              <a:rPr sz="1200" spc="8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data</a:t>
            </a:r>
            <a:r>
              <a:rPr sz="1200" spc="85" dirty="0">
                <a:solidFill>
                  <a:srgbClr val="334054"/>
                </a:solidFill>
                <a:latin typeface="Trebuchet MS"/>
                <a:cs typeface="Trebuchet MS"/>
              </a:rPr>
              <a:t> augmentation</a:t>
            </a:r>
            <a:r>
              <a:rPr sz="1200" spc="9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334054"/>
                </a:solidFill>
                <a:latin typeface="Trebuchet MS"/>
                <a:cs typeface="Trebuchet MS"/>
              </a:rPr>
              <a:t>for</a:t>
            </a:r>
            <a:r>
              <a:rPr sz="1200" spc="85" dirty="0">
                <a:solidFill>
                  <a:srgbClr val="334054"/>
                </a:solidFill>
                <a:latin typeface="Trebuchet MS"/>
                <a:cs typeface="Trebuchet MS"/>
              </a:rPr>
              <a:t> enhanced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model</a:t>
            </a:r>
            <a:r>
              <a:rPr sz="1200" spc="3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robustness.</a:t>
            </a:r>
            <a:endParaRPr sz="1200">
              <a:latin typeface="Trebuchet MS"/>
              <a:cs typeface="Trebuchet MS"/>
            </a:endParaRPr>
          </a:p>
          <a:p>
            <a:pPr>
              <a:spcBef>
                <a:spcPts val="765"/>
              </a:spcBef>
            </a:pPr>
            <a:endParaRPr sz="1200">
              <a:latin typeface="Trebuchet MS"/>
              <a:cs typeface="Trebuchet MS"/>
            </a:endParaRPr>
          </a:p>
          <a:p>
            <a:pPr marL="12701"/>
            <a:r>
              <a:rPr sz="1500" spc="1410" dirty="0">
                <a:solidFill>
                  <a:srgbClr val="0FB981"/>
                </a:solidFill>
                <a:latin typeface="Segoe UI Symbol"/>
                <a:cs typeface="Segoe UI Symbol"/>
              </a:rPr>
              <a:t></a:t>
            </a:r>
            <a:r>
              <a:rPr sz="1500" spc="490" dirty="0">
                <a:solidFill>
                  <a:srgbClr val="0FB981"/>
                </a:solidFill>
                <a:latin typeface="Segoe UI Symbol"/>
                <a:cs typeface="Segoe UI Symbol"/>
              </a:rPr>
              <a:t> </a:t>
            </a:r>
            <a:r>
              <a:rPr sz="1351" b="1" spc="18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Clinical</a:t>
            </a:r>
            <a:r>
              <a:rPr sz="1351" b="1" spc="17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21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Impact</a:t>
            </a:r>
            <a:endParaRPr sz="1351">
              <a:latin typeface="Adobe Clean SemiCondensed"/>
              <a:cs typeface="Adobe Clean SemiCondensed"/>
            </a:endParaRPr>
          </a:p>
          <a:p>
            <a:pPr marL="316884" marR="29211">
              <a:lnSpc>
                <a:spcPct val="130200"/>
              </a:lnSpc>
              <a:spcBef>
                <a:spcPts val="839"/>
              </a:spcBef>
            </a:pP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Fast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 and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reliable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preliminary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screening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to</a:t>
            </a:r>
            <a:r>
              <a:rPr sz="1200" spc="104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assist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radiologists,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reducing </a:t>
            </a:r>
            <a:r>
              <a:rPr sz="1200" spc="90" dirty="0">
                <a:solidFill>
                  <a:srgbClr val="334054"/>
                </a:solidFill>
                <a:latin typeface="Trebuchet MS"/>
                <a:cs typeface="Trebuchet MS"/>
              </a:rPr>
              <a:t>diagnosis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time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and</a:t>
            </a:r>
            <a:r>
              <a:rPr sz="1200" spc="3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improving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treatment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planning.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14088" y="722376"/>
            <a:ext cx="4615180" cy="5565775"/>
            <a:chOff x="7284719" y="722375"/>
            <a:chExt cx="4615180" cy="5565775"/>
          </a:xfrm>
        </p:grpSpPr>
        <p:sp>
          <p:nvSpPr>
            <p:cNvPr id="12" name="object 12"/>
            <p:cNvSpPr/>
            <p:nvPr/>
          </p:nvSpPr>
          <p:spPr>
            <a:xfrm>
              <a:off x="7284719" y="722375"/>
              <a:ext cx="4615180" cy="5565775"/>
            </a:xfrm>
            <a:custGeom>
              <a:avLst/>
              <a:gdLst/>
              <a:ahLst/>
              <a:cxnLst/>
              <a:rect l="l" t="t" r="r" b="b"/>
              <a:pathLst>
                <a:path w="4615180" h="5565775">
                  <a:moveTo>
                    <a:pt x="4614671" y="5565647"/>
                  </a:moveTo>
                  <a:lnTo>
                    <a:pt x="0" y="5565647"/>
                  </a:lnTo>
                  <a:lnTo>
                    <a:pt x="0" y="0"/>
                  </a:lnTo>
                  <a:lnTo>
                    <a:pt x="4614671" y="0"/>
                  </a:lnTo>
                  <a:lnTo>
                    <a:pt x="4614671" y="325373"/>
                  </a:lnTo>
                  <a:lnTo>
                    <a:pt x="516254" y="325373"/>
                  </a:lnTo>
                  <a:lnTo>
                    <a:pt x="504994" y="325917"/>
                  </a:lnTo>
                  <a:lnTo>
                    <a:pt x="462318" y="338885"/>
                  </a:lnTo>
                  <a:lnTo>
                    <a:pt x="427854" y="367197"/>
                  </a:lnTo>
                  <a:lnTo>
                    <a:pt x="406848" y="406543"/>
                  </a:lnTo>
                  <a:lnTo>
                    <a:pt x="401954" y="439673"/>
                  </a:lnTo>
                  <a:lnTo>
                    <a:pt x="401954" y="4973573"/>
                  </a:lnTo>
                  <a:lnTo>
                    <a:pt x="410654" y="5017314"/>
                  </a:lnTo>
                  <a:lnTo>
                    <a:pt x="435432" y="5054396"/>
                  </a:lnTo>
                  <a:lnTo>
                    <a:pt x="472513" y="5079172"/>
                  </a:lnTo>
                  <a:lnTo>
                    <a:pt x="516254" y="5087873"/>
                  </a:lnTo>
                  <a:lnTo>
                    <a:pt x="4614671" y="5087873"/>
                  </a:lnTo>
                  <a:lnTo>
                    <a:pt x="4614671" y="5565647"/>
                  </a:lnTo>
                  <a:close/>
                </a:path>
                <a:path w="4615180" h="5565775">
                  <a:moveTo>
                    <a:pt x="4614671" y="5087873"/>
                  </a:moveTo>
                  <a:lnTo>
                    <a:pt x="4097654" y="5087873"/>
                  </a:lnTo>
                  <a:lnTo>
                    <a:pt x="4108913" y="5087329"/>
                  </a:lnTo>
                  <a:lnTo>
                    <a:pt x="4119956" y="5085698"/>
                  </a:lnTo>
                  <a:lnTo>
                    <a:pt x="4161166" y="5068628"/>
                  </a:lnTo>
                  <a:lnTo>
                    <a:pt x="4192708" y="5037087"/>
                  </a:lnTo>
                  <a:lnTo>
                    <a:pt x="4209778" y="4995876"/>
                  </a:lnTo>
                  <a:lnTo>
                    <a:pt x="4211954" y="4973573"/>
                  </a:lnTo>
                  <a:lnTo>
                    <a:pt x="4211954" y="439673"/>
                  </a:lnTo>
                  <a:lnTo>
                    <a:pt x="4203252" y="395933"/>
                  </a:lnTo>
                  <a:lnTo>
                    <a:pt x="4178475" y="358851"/>
                  </a:lnTo>
                  <a:lnTo>
                    <a:pt x="4141393" y="334074"/>
                  </a:lnTo>
                  <a:lnTo>
                    <a:pt x="4097654" y="325373"/>
                  </a:lnTo>
                  <a:lnTo>
                    <a:pt x="4614671" y="325373"/>
                  </a:lnTo>
                  <a:lnTo>
                    <a:pt x="4614671" y="5087873"/>
                  </a:lnTo>
                  <a:close/>
                </a:path>
              </a:pathLst>
            </a:custGeom>
            <a:solidFill>
              <a:srgbClr val="1D3A8A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6674" y="1047749"/>
              <a:ext cx="3809999" cy="47624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69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20098" y="1746504"/>
            <a:ext cx="5495925" cy="3173095"/>
            <a:chOff x="490727" y="1746503"/>
            <a:chExt cx="5495925" cy="3173095"/>
          </a:xfrm>
        </p:grpSpPr>
        <p:sp>
          <p:nvSpPr>
            <p:cNvPr id="4" name="object 4"/>
            <p:cNvSpPr/>
            <p:nvPr/>
          </p:nvSpPr>
          <p:spPr>
            <a:xfrm>
              <a:off x="490727" y="1746503"/>
              <a:ext cx="5495925" cy="3173095"/>
            </a:xfrm>
            <a:custGeom>
              <a:avLst/>
              <a:gdLst/>
              <a:ahLst/>
              <a:cxnLst/>
              <a:rect l="l" t="t" r="r" b="b"/>
              <a:pathLst>
                <a:path w="5495925" h="3173095">
                  <a:moveTo>
                    <a:pt x="5495543" y="3172967"/>
                  </a:moveTo>
                  <a:lnTo>
                    <a:pt x="0" y="3172967"/>
                  </a:lnTo>
                  <a:lnTo>
                    <a:pt x="0" y="0"/>
                  </a:lnTo>
                  <a:lnTo>
                    <a:pt x="5495543" y="0"/>
                  </a:lnTo>
                  <a:lnTo>
                    <a:pt x="5495543" y="53720"/>
                  </a:lnTo>
                  <a:lnTo>
                    <a:pt x="195071" y="53720"/>
                  </a:lnTo>
                  <a:lnTo>
                    <a:pt x="184750" y="54219"/>
                  </a:lnTo>
                  <a:lnTo>
                    <a:pt x="145631" y="66106"/>
                  </a:lnTo>
                  <a:lnTo>
                    <a:pt x="114038" y="92059"/>
                  </a:lnTo>
                  <a:lnTo>
                    <a:pt x="94783" y="128126"/>
                  </a:lnTo>
                  <a:lnTo>
                    <a:pt x="90296" y="158495"/>
                  </a:lnTo>
                  <a:lnTo>
                    <a:pt x="90296" y="2939795"/>
                  </a:lnTo>
                  <a:lnTo>
                    <a:pt x="98272" y="2979890"/>
                  </a:lnTo>
                  <a:lnTo>
                    <a:pt x="120984" y="3013882"/>
                  </a:lnTo>
                  <a:lnTo>
                    <a:pt x="154976" y="3036594"/>
                  </a:lnTo>
                  <a:lnTo>
                    <a:pt x="195071" y="3044570"/>
                  </a:lnTo>
                  <a:lnTo>
                    <a:pt x="5495543" y="3044570"/>
                  </a:lnTo>
                  <a:lnTo>
                    <a:pt x="5495543" y="3172967"/>
                  </a:lnTo>
                  <a:close/>
                </a:path>
                <a:path w="5495925" h="3173095">
                  <a:moveTo>
                    <a:pt x="5495543" y="3044570"/>
                  </a:moveTo>
                  <a:lnTo>
                    <a:pt x="5300471" y="3044570"/>
                  </a:lnTo>
                  <a:lnTo>
                    <a:pt x="5310792" y="3044072"/>
                  </a:lnTo>
                  <a:lnTo>
                    <a:pt x="5320915" y="3042576"/>
                  </a:lnTo>
                  <a:lnTo>
                    <a:pt x="5358692" y="3026928"/>
                  </a:lnTo>
                  <a:lnTo>
                    <a:pt x="5387604" y="2998015"/>
                  </a:lnTo>
                  <a:lnTo>
                    <a:pt x="5403252" y="2960239"/>
                  </a:lnTo>
                  <a:lnTo>
                    <a:pt x="5405246" y="2939795"/>
                  </a:lnTo>
                  <a:lnTo>
                    <a:pt x="5405246" y="158495"/>
                  </a:lnTo>
                  <a:lnTo>
                    <a:pt x="5397270" y="118400"/>
                  </a:lnTo>
                  <a:lnTo>
                    <a:pt x="5374558" y="84408"/>
                  </a:lnTo>
                  <a:lnTo>
                    <a:pt x="5340566" y="61696"/>
                  </a:lnTo>
                  <a:lnTo>
                    <a:pt x="5300471" y="53720"/>
                  </a:lnTo>
                  <a:lnTo>
                    <a:pt x="5495543" y="53720"/>
                  </a:lnTo>
                  <a:lnTo>
                    <a:pt x="5495543" y="304457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1499" y="1790699"/>
              <a:ext cx="5334000" cy="3009900"/>
            </a:xfrm>
            <a:custGeom>
              <a:avLst/>
              <a:gdLst/>
              <a:ahLst/>
              <a:cxnLst/>
              <a:rect l="l" t="t" r="r" b="b"/>
              <a:pathLst>
                <a:path w="5334000" h="3009900">
                  <a:moveTo>
                    <a:pt x="5227204" y="3009899"/>
                  </a:moveTo>
                  <a:lnTo>
                    <a:pt x="106794" y="3009899"/>
                  </a:lnTo>
                  <a:lnTo>
                    <a:pt x="99361" y="3009167"/>
                  </a:lnTo>
                  <a:lnTo>
                    <a:pt x="57038" y="2994805"/>
                  </a:lnTo>
                  <a:lnTo>
                    <a:pt x="23432" y="2965341"/>
                  </a:lnTo>
                  <a:lnTo>
                    <a:pt x="3660" y="2925258"/>
                  </a:lnTo>
                  <a:lnTo>
                    <a:pt x="0" y="2903104"/>
                  </a:lnTo>
                  <a:lnTo>
                    <a:pt x="0" y="28955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4" y="0"/>
                  </a:lnTo>
                  <a:lnTo>
                    <a:pt x="5227204" y="0"/>
                  </a:lnTo>
                  <a:lnTo>
                    <a:pt x="5270373" y="11572"/>
                  </a:lnTo>
                  <a:lnTo>
                    <a:pt x="5305828" y="38784"/>
                  </a:lnTo>
                  <a:lnTo>
                    <a:pt x="5328170" y="77492"/>
                  </a:lnTo>
                  <a:lnTo>
                    <a:pt x="5333999" y="106794"/>
                  </a:lnTo>
                  <a:lnTo>
                    <a:pt x="5333999" y="2903104"/>
                  </a:lnTo>
                  <a:lnTo>
                    <a:pt x="5322426" y="2946273"/>
                  </a:lnTo>
                  <a:lnTo>
                    <a:pt x="5295214" y="2981728"/>
                  </a:lnTo>
                  <a:lnTo>
                    <a:pt x="5256506" y="3004070"/>
                  </a:lnTo>
                  <a:lnTo>
                    <a:pt x="5234637" y="3009167"/>
                  </a:lnTo>
                  <a:lnTo>
                    <a:pt x="5227204" y="3009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92970" y="2063751"/>
            <a:ext cx="4496435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3150" spc="405" baseline="-3968" dirty="0">
                <a:solidFill>
                  <a:srgbClr val="EF4444"/>
                </a:solidFill>
                <a:latin typeface="Segoe UI Symbol"/>
                <a:cs typeface="Segoe UI Symbol"/>
              </a:rPr>
              <a:t>⚠</a:t>
            </a:r>
            <a:r>
              <a:rPr sz="3150" spc="488" baseline="-3968" dirty="0">
                <a:solidFill>
                  <a:srgbClr val="EF4444"/>
                </a:solidFill>
                <a:latin typeface="Segoe UI Symbol"/>
                <a:cs typeface="Segoe UI Symbol"/>
              </a:rPr>
              <a:t> </a:t>
            </a:r>
            <a:r>
              <a:rPr b="1" spc="30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Challenges</a:t>
            </a:r>
            <a:r>
              <a:rPr b="1" spc="23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b="1" spc="24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in</a:t>
            </a:r>
            <a:r>
              <a:rPr b="1" spc="24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b="1" spc="29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Manual</a:t>
            </a:r>
            <a:r>
              <a:rPr b="1" spc="24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b="1" spc="29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Diagnosis</a:t>
            </a:r>
            <a:endParaRPr>
              <a:latin typeface="Adobe Clean SemiCondensed"/>
              <a:cs typeface="Adobe Clean SemiCondensed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35098" y="1746504"/>
            <a:ext cx="5495925" cy="3173095"/>
            <a:chOff x="6205727" y="1746503"/>
            <a:chExt cx="5495925" cy="3173095"/>
          </a:xfrm>
        </p:grpSpPr>
        <p:sp>
          <p:nvSpPr>
            <p:cNvPr id="8" name="object 8"/>
            <p:cNvSpPr/>
            <p:nvPr/>
          </p:nvSpPr>
          <p:spPr>
            <a:xfrm>
              <a:off x="6205727" y="1746503"/>
              <a:ext cx="5495925" cy="3173095"/>
            </a:xfrm>
            <a:custGeom>
              <a:avLst/>
              <a:gdLst/>
              <a:ahLst/>
              <a:cxnLst/>
              <a:rect l="l" t="t" r="r" b="b"/>
              <a:pathLst>
                <a:path w="5495925" h="3173095">
                  <a:moveTo>
                    <a:pt x="5495543" y="3172967"/>
                  </a:moveTo>
                  <a:lnTo>
                    <a:pt x="0" y="3172967"/>
                  </a:lnTo>
                  <a:lnTo>
                    <a:pt x="0" y="0"/>
                  </a:lnTo>
                  <a:lnTo>
                    <a:pt x="5495543" y="0"/>
                  </a:lnTo>
                  <a:lnTo>
                    <a:pt x="5495543" y="53720"/>
                  </a:lnTo>
                  <a:lnTo>
                    <a:pt x="195071" y="53720"/>
                  </a:lnTo>
                  <a:lnTo>
                    <a:pt x="184750" y="54219"/>
                  </a:lnTo>
                  <a:lnTo>
                    <a:pt x="145630" y="66106"/>
                  </a:lnTo>
                  <a:lnTo>
                    <a:pt x="114038" y="92059"/>
                  </a:lnTo>
                  <a:lnTo>
                    <a:pt x="94782" y="128126"/>
                  </a:lnTo>
                  <a:lnTo>
                    <a:pt x="90296" y="158495"/>
                  </a:lnTo>
                  <a:lnTo>
                    <a:pt x="90296" y="2939795"/>
                  </a:lnTo>
                  <a:lnTo>
                    <a:pt x="98272" y="2979890"/>
                  </a:lnTo>
                  <a:lnTo>
                    <a:pt x="120984" y="3013882"/>
                  </a:lnTo>
                  <a:lnTo>
                    <a:pt x="154975" y="3036594"/>
                  </a:lnTo>
                  <a:lnTo>
                    <a:pt x="195071" y="3044570"/>
                  </a:lnTo>
                  <a:lnTo>
                    <a:pt x="5495543" y="3044570"/>
                  </a:lnTo>
                  <a:lnTo>
                    <a:pt x="5495543" y="3172967"/>
                  </a:lnTo>
                  <a:close/>
                </a:path>
                <a:path w="5495925" h="3173095">
                  <a:moveTo>
                    <a:pt x="5495543" y="3044570"/>
                  </a:moveTo>
                  <a:lnTo>
                    <a:pt x="5300471" y="3044570"/>
                  </a:lnTo>
                  <a:lnTo>
                    <a:pt x="5310792" y="3044072"/>
                  </a:lnTo>
                  <a:lnTo>
                    <a:pt x="5320915" y="3042576"/>
                  </a:lnTo>
                  <a:lnTo>
                    <a:pt x="5358691" y="3026928"/>
                  </a:lnTo>
                  <a:lnTo>
                    <a:pt x="5387603" y="2998015"/>
                  </a:lnTo>
                  <a:lnTo>
                    <a:pt x="5403251" y="2960239"/>
                  </a:lnTo>
                  <a:lnTo>
                    <a:pt x="5405246" y="2939795"/>
                  </a:lnTo>
                  <a:lnTo>
                    <a:pt x="5405246" y="158495"/>
                  </a:lnTo>
                  <a:lnTo>
                    <a:pt x="5397269" y="118400"/>
                  </a:lnTo>
                  <a:lnTo>
                    <a:pt x="5374557" y="84408"/>
                  </a:lnTo>
                  <a:lnTo>
                    <a:pt x="5340566" y="61696"/>
                  </a:lnTo>
                  <a:lnTo>
                    <a:pt x="5300471" y="53720"/>
                  </a:lnTo>
                  <a:lnTo>
                    <a:pt x="5495543" y="53720"/>
                  </a:lnTo>
                  <a:lnTo>
                    <a:pt x="5495543" y="304457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86498" y="1790699"/>
              <a:ext cx="5334000" cy="3009900"/>
            </a:xfrm>
            <a:custGeom>
              <a:avLst/>
              <a:gdLst/>
              <a:ahLst/>
              <a:cxnLst/>
              <a:rect l="l" t="t" r="r" b="b"/>
              <a:pathLst>
                <a:path w="5334000" h="3009900">
                  <a:moveTo>
                    <a:pt x="5227205" y="3009899"/>
                  </a:moveTo>
                  <a:lnTo>
                    <a:pt x="106795" y="3009899"/>
                  </a:lnTo>
                  <a:lnTo>
                    <a:pt x="99361" y="3009167"/>
                  </a:lnTo>
                  <a:lnTo>
                    <a:pt x="57038" y="2994805"/>
                  </a:lnTo>
                  <a:lnTo>
                    <a:pt x="23432" y="2965341"/>
                  </a:lnTo>
                  <a:lnTo>
                    <a:pt x="3660" y="2925258"/>
                  </a:lnTo>
                  <a:lnTo>
                    <a:pt x="0" y="2903104"/>
                  </a:lnTo>
                  <a:lnTo>
                    <a:pt x="0" y="28955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5227205" y="0"/>
                  </a:lnTo>
                  <a:lnTo>
                    <a:pt x="5270373" y="11572"/>
                  </a:lnTo>
                  <a:lnTo>
                    <a:pt x="5305828" y="38784"/>
                  </a:lnTo>
                  <a:lnTo>
                    <a:pt x="5328171" y="77492"/>
                  </a:lnTo>
                  <a:lnTo>
                    <a:pt x="5334000" y="106794"/>
                  </a:lnTo>
                  <a:lnTo>
                    <a:pt x="5334000" y="2903104"/>
                  </a:lnTo>
                  <a:lnTo>
                    <a:pt x="5322426" y="2946273"/>
                  </a:lnTo>
                  <a:lnTo>
                    <a:pt x="5295215" y="2981728"/>
                  </a:lnTo>
                  <a:lnTo>
                    <a:pt x="5256506" y="3004070"/>
                  </a:lnTo>
                  <a:lnTo>
                    <a:pt x="5234637" y="3009167"/>
                  </a:lnTo>
                  <a:lnTo>
                    <a:pt x="5227205" y="3009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607969" y="2063751"/>
            <a:ext cx="405511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3150" spc="1732" baseline="-3968" dirty="0">
                <a:solidFill>
                  <a:srgbClr val="0FB981"/>
                </a:solidFill>
                <a:latin typeface="Segoe UI Symbol"/>
                <a:cs typeface="Segoe UI Symbol"/>
              </a:rPr>
              <a:t></a:t>
            </a:r>
            <a:r>
              <a:rPr sz="3150" spc="494" baseline="-3968" dirty="0">
                <a:solidFill>
                  <a:srgbClr val="0FB981"/>
                </a:solidFill>
                <a:latin typeface="Segoe UI Symbol"/>
                <a:cs typeface="Segoe UI Symbol"/>
              </a:rPr>
              <a:t> </a:t>
            </a:r>
            <a:r>
              <a:rPr b="1" spc="21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AI</a:t>
            </a:r>
            <a:r>
              <a:rPr b="1" spc="24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b="1" spc="31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&amp;</a:t>
            </a:r>
            <a:r>
              <a:rPr b="1" spc="24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b="1" spc="32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Deep</a:t>
            </a:r>
            <a:r>
              <a:rPr b="1" spc="24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b="1" spc="29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Learning</a:t>
            </a:r>
            <a:r>
              <a:rPr b="1" spc="24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b="1" spc="119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Solution</a:t>
            </a:r>
            <a:endParaRPr>
              <a:latin typeface="Adobe Clean SemiCondensed"/>
              <a:cs typeface="Adobe Clean SemiCondensed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870" y="5105401"/>
            <a:ext cx="11048998" cy="10096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03549" y="5269864"/>
            <a:ext cx="10243820" cy="5459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76979" marR="5081" indent="-4264912">
              <a:lnSpc>
                <a:spcPct val="134300"/>
              </a:lnSpc>
              <a:spcBef>
                <a:spcPts val="99"/>
              </a:spcBef>
            </a:pPr>
            <a:r>
              <a:rPr sz="1351" spc="725" dirty="0">
                <a:solidFill>
                  <a:srgbClr val="0FB981"/>
                </a:solidFill>
                <a:latin typeface="Segoe UI Symbol"/>
                <a:cs typeface="Segoe UI Symbol"/>
              </a:rPr>
              <a:t></a:t>
            </a:r>
            <a:r>
              <a:rPr sz="1351" spc="560" dirty="0">
                <a:solidFill>
                  <a:srgbClr val="0FB981"/>
                </a:solidFill>
                <a:latin typeface="Segoe UI Symbol"/>
                <a:cs typeface="Segoe UI Symbol"/>
              </a:rPr>
              <a:t> </a:t>
            </a:r>
            <a:r>
              <a:rPr sz="1351" b="1" spc="204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Project</a:t>
            </a:r>
            <a:r>
              <a:rPr sz="1351" b="1" spc="18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204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Objective:</a:t>
            </a:r>
            <a:r>
              <a:rPr sz="1351" b="1" spc="18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21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Develop</a:t>
            </a:r>
            <a:r>
              <a:rPr sz="1351" b="1" spc="18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25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an</a:t>
            </a:r>
            <a:r>
              <a:rPr sz="1351" b="1" spc="18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24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automated</a:t>
            </a:r>
            <a:r>
              <a:rPr sz="1351" b="1" spc="18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21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brain</a:t>
            </a:r>
            <a:r>
              <a:rPr sz="1351" b="1" spc="18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229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tumor</a:t>
            </a:r>
            <a:r>
              <a:rPr sz="1351" b="1" spc="18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22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detection</a:t>
            </a:r>
            <a:r>
              <a:rPr sz="1351" b="1" spc="18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26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system</a:t>
            </a:r>
            <a:r>
              <a:rPr sz="1351" b="1" spc="18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24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using</a:t>
            </a:r>
            <a:r>
              <a:rPr sz="1351" b="1" spc="18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27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VGG16</a:t>
            </a:r>
            <a:r>
              <a:rPr sz="1351" b="1" spc="18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23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CNN</a:t>
            </a:r>
            <a:r>
              <a:rPr sz="1351" b="1" spc="18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20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for</a:t>
            </a:r>
            <a:r>
              <a:rPr sz="1351" b="1" spc="18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146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accurate </a:t>
            </a:r>
            <a:r>
              <a:rPr sz="1351" b="1" spc="21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MRI</a:t>
            </a:r>
            <a:r>
              <a:rPr sz="1351" b="1" spc="17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351" b="1" spc="21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classiﬁcation</a:t>
            </a:r>
            <a:endParaRPr sz="1351">
              <a:latin typeface="Adobe Clean SemiCondensed"/>
              <a:cs typeface="Adobe Clean SemiCondensed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451833" y="406403"/>
            <a:ext cx="6679775" cy="784189"/>
          </a:xfrm>
          <a:prstGeom prst="rect">
            <a:avLst/>
          </a:prstGeom>
        </p:spPr>
        <p:txBody>
          <a:bodyPr vert="horz" wrap="square" lIns="0" tIns="365125" rIns="0" bIns="0" rtlCol="0">
            <a:spAutoFit/>
          </a:bodyPr>
          <a:lstStyle/>
          <a:p>
            <a:pPr marL="150504">
              <a:spcBef>
                <a:spcPts val="99"/>
              </a:spcBef>
            </a:pPr>
            <a:r>
              <a:rPr spc="405" dirty="0"/>
              <a:t>Introduction</a:t>
            </a: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871" y="1371600"/>
            <a:ext cx="761999" cy="381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92970" y="2673350"/>
            <a:ext cx="39122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80" indent="-227979">
              <a:spcBef>
                <a:spcPts val="99"/>
              </a:spcBef>
              <a:buClr>
                <a:srgbClr val="3B81F5"/>
              </a:buClr>
              <a:buFont typeface="Adobe Clean SemiCondensed"/>
              <a:buChar char="•"/>
              <a:tabLst>
                <a:tab pos="240680" algn="l"/>
              </a:tabLst>
            </a:pP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Visual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fatigue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and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119" dirty="0">
                <a:solidFill>
                  <a:srgbClr val="334054"/>
                </a:solidFill>
                <a:latin typeface="Trebuchet MS"/>
                <a:cs typeface="Trebuchet MS"/>
              </a:rPr>
              <a:t>human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error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in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35" dirty="0">
                <a:solidFill>
                  <a:srgbClr val="334054"/>
                </a:solidFill>
                <a:latin typeface="Trebuchet MS"/>
                <a:cs typeface="Trebuchet MS"/>
              </a:rPr>
              <a:t>interpretation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2971" y="3073400"/>
            <a:ext cx="350392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80" indent="-227979">
              <a:spcBef>
                <a:spcPts val="99"/>
              </a:spcBef>
              <a:buClr>
                <a:srgbClr val="3B81F5"/>
              </a:buClr>
              <a:buFont typeface="Adobe Clean SemiCondensed"/>
              <a:buChar char="•"/>
              <a:tabLst>
                <a:tab pos="240680" algn="l"/>
              </a:tabLst>
            </a:pP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Subtle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tumor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boundaries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diﬃcult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to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40" dirty="0">
                <a:solidFill>
                  <a:srgbClr val="334054"/>
                </a:solidFill>
                <a:latin typeface="Trebuchet MS"/>
                <a:cs typeface="Trebuchet MS"/>
              </a:rPr>
              <a:t>detect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2971" y="3463924"/>
            <a:ext cx="405637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80" indent="-227979">
              <a:spcBef>
                <a:spcPts val="99"/>
              </a:spcBef>
              <a:buClr>
                <a:srgbClr val="3B81F5"/>
              </a:buClr>
              <a:buFont typeface="Adobe Clean SemiCondensed"/>
              <a:buChar char="•"/>
              <a:tabLst>
                <a:tab pos="240680" algn="l"/>
              </a:tabLst>
            </a:pP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Overlapping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tissue</a:t>
            </a:r>
            <a:r>
              <a:rPr sz="1200" spc="3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structures</a:t>
            </a:r>
            <a:r>
              <a:rPr sz="1200" spc="3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complicate</a:t>
            </a:r>
            <a:r>
              <a:rPr sz="1200" spc="3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analysis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2971" y="3863974"/>
            <a:ext cx="30587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80" indent="-227979">
              <a:spcBef>
                <a:spcPts val="99"/>
              </a:spcBef>
              <a:buClr>
                <a:srgbClr val="3B81F5"/>
              </a:buClr>
              <a:buFont typeface="Adobe Clean SemiCondensed"/>
              <a:buChar char="•"/>
              <a:tabLst>
                <a:tab pos="240680" algn="l"/>
              </a:tabLst>
            </a:pP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Limited</a:t>
            </a:r>
            <a:r>
              <a:rPr sz="1200" spc="3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95" dirty="0">
                <a:solidFill>
                  <a:srgbClr val="334054"/>
                </a:solidFill>
                <a:latin typeface="Trebuchet MS"/>
                <a:cs typeface="Trebuchet MS"/>
              </a:rPr>
              <a:t>access</a:t>
            </a:r>
            <a:r>
              <a:rPr sz="1200" spc="4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to</a:t>
            </a:r>
            <a:r>
              <a:rPr sz="1200" spc="4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expert</a:t>
            </a: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radiologists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2972" y="4264024"/>
            <a:ext cx="37649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80" indent="-227979">
              <a:spcBef>
                <a:spcPts val="99"/>
              </a:spcBef>
              <a:buClr>
                <a:srgbClr val="3B81F5"/>
              </a:buClr>
              <a:buFont typeface="Adobe Clean SemiCondensed"/>
              <a:buChar char="•"/>
              <a:tabLst>
                <a:tab pos="240680" algn="l"/>
              </a:tabLst>
            </a:pP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Time-</a:t>
            </a:r>
            <a:r>
              <a:rPr sz="1200" spc="85" dirty="0">
                <a:solidFill>
                  <a:srgbClr val="334054"/>
                </a:solidFill>
                <a:latin typeface="Trebuchet MS"/>
                <a:cs typeface="Trebuchet MS"/>
              </a:rPr>
              <a:t>consuming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95" dirty="0">
                <a:solidFill>
                  <a:srgbClr val="334054"/>
                </a:solidFill>
                <a:latin typeface="Trebuchet MS"/>
                <a:cs typeface="Trebuchet MS"/>
              </a:rPr>
              <a:t>manual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examination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process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07971" y="2673350"/>
            <a:ext cx="42703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85" indent="-229883">
              <a:spcBef>
                <a:spcPts val="99"/>
              </a:spcBef>
              <a:buClr>
                <a:srgbClr val="0FB981"/>
              </a:buClr>
              <a:buFont typeface="Adobe Clean SemiCondensed"/>
              <a:buChar char="✓"/>
              <a:tabLst>
                <a:tab pos="242585" algn="l"/>
              </a:tabLst>
            </a:pPr>
            <a:r>
              <a:rPr sz="1200" spc="126" dirty="0">
                <a:solidFill>
                  <a:srgbClr val="334054"/>
                </a:solidFill>
                <a:latin typeface="Trebuchet MS"/>
                <a:cs typeface="Trebuchet MS"/>
              </a:rPr>
              <a:t>CNNs</a:t>
            </a: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 excel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at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 pattern</a:t>
            </a: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recognition</a:t>
            </a: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in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medical</a:t>
            </a: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90" dirty="0">
                <a:solidFill>
                  <a:srgbClr val="334054"/>
                </a:solidFill>
                <a:latin typeface="Trebuchet MS"/>
                <a:cs typeface="Trebuchet MS"/>
              </a:rPr>
              <a:t>images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07971" y="3073400"/>
            <a:ext cx="43757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85" indent="-229883">
              <a:spcBef>
                <a:spcPts val="99"/>
              </a:spcBef>
              <a:buClr>
                <a:srgbClr val="0FB981"/>
              </a:buClr>
              <a:buFont typeface="Adobe Clean SemiCondensed"/>
              <a:buChar char="✓"/>
              <a:tabLst>
                <a:tab pos="242585" algn="l"/>
              </a:tabLst>
            </a:pPr>
            <a:r>
              <a:rPr sz="1200" spc="119" dirty="0">
                <a:solidFill>
                  <a:srgbClr val="334054"/>
                </a:solidFill>
                <a:latin typeface="Trebuchet MS"/>
                <a:cs typeface="Trebuchet MS"/>
              </a:rPr>
              <a:t>VGG16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20" dirty="0">
                <a:solidFill>
                  <a:srgbClr val="334054"/>
                </a:solidFill>
                <a:latin typeface="Trebuchet MS"/>
                <a:cs typeface="Trebuchet MS"/>
              </a:rPr>
              <a:t>architecture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20" dirty="0">
                <a:solidFill>
                  <a:srgbClr val="334054"/>
                </a:solidFill>
                <a:latin typeface="Trebuchet MS"/>
                <a:cs typeface="Trebuchet MS"/>
              </a:rPr>
              <a:t>for</a:t>
            </a:r>
            <a:r>
              <a:rPr sz="1200" spc="104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hierarchical</a:t>
            </a:r>
            <a:r>
              <a:rPr sz="1200" spc="99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feature</a:t>
            </a:r>
            <a:r>
              <a:rPr sz="1200" spc="104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40" dirty="0">
                <a:solidFill>
                  <a:srgbClr val="334054"/>
                </a:solidFill>
                <a:latin typeface="Trebuchet MS"/>
                <a:cs typeface="Trebuchet MS"/>
              </a:rPr>
              <a:t>extraction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07971" y="3463924"/>
            <a:ext cx="466534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85" indent="-229883">
              <a:spcBef>
                <a:spcPts val="99"/>
              </a:spcBef>
              <a:buClr>
                <a:srgbClr val="0FB981"/>
              </a:buClr>
              <a:buFont typeface="Adobe Clean SemiCondensed"/>
              <a:buChar char="✓"/>
              <a:tabLst>
                <a:tab pos="242585" algn="l"/>
              </a:tabLst>
            </a:pP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Transfer</a:t>
            </a:r>
            <a:r>
              <a:rPr sz="1200" spc="8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learning</a:t>
            </a:r>
            <a:r>
              <a:rPr sz="1200" spc="90" dirty="0">
                <a:solidFill>
                  <a:srgbClr val="334054"/>
                </a:solidFill>
                <a:latin typeface="Trebuchet MS"/>
                <a:cs typeface="Trebuchet MS"/>
              </a:rPr>
              <a:t> leverages</a:t>
            </a:r>
            <a:r>
              <a:rPr sz="1200" spc="8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pre-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trained</a:t>
            </a:r>
            <a:r>
              <a:rPr sz="1200" spc="9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85" dirty="0">
                <a:solidFill>
                  <a:srgbClr val="334054"/>
                </a:solidFill>
                <a:latin typeface="Trebuchet MS"/>
                <a:cs typeface="Trebuchet MS"/>
              </a:rPr>
              <a:t>ImageNet</a:t>
            </a:r>
            <a:r>
              <a:rPr sz="1200" spc="9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weights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07971" y="3863974"/>
            <a:ext cx="456628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85" indent="-229883">
              <a:spcBef>
                <a:spcPts val="99"/>
              </a:spcBef>
              <a:buClr>
                <a:srgbClr val="0FB981"/>
              </a:buClr>
              <a:buFont typeface="Adobe Clean SemiCondensed"/>
              <a:buChar char="✓"/>
              <a:tabLst>
                <a:tab pos="242585" algn="l"/>
              </a:tabLst>
            </a:pP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End-to-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end</a:t>
            </a:r>
            <a:r>
              <a:rPr sz="1200" spc="2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learning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without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95" dirty="0">
                <a:solidFill>
                  <a:srgbClr val="334054"/>
                </a:solidFill>
                <a:latin typeface="Trebuchet MS"/>
                <a:cs typeface="Trebuchet MS"/>
              </a:rPr>
              <a:t>manual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feature</a:t>
            </a:r>
            <a:r>
              <a:rPr sz="120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engineering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07971" y="4264024"/>
            <a:ext cx="38334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85" indent="-229883">
              <a:spcBef>
                <a:spcPts val="99"/>
              </a:spcBef>
              <a:buClr>
                <a:srgbClr val="0FB981"/>
              </a:buClr>
              <a:buFont typeface="Adobe Clean SemiCondensed"/>
              <a:buChar char="✓"/>
              <a:tabLst>
                <a:tab pos="242585" algn="l"/>
              </a:tabLst>
            </a:pP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Fast,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automated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preliminary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 screening 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support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5E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369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1381124"/>
              <a:ext cx="762000" cy="38100"/>
            </a:xfrm>
            <a:custGeom>
              <a:avLst/>
              <a:gdLst/>
              <a:ahLst/>
              <a:cxnLst/>
              <a:rect l="l" t="t" r="r" b="b"/>
              <a:pathLst>
                <a:path w="762000" h="38100">
                  <a:moveTo>
                    <a:pt x="761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761999" y="0"/>
                  </a:lnTo>
                  <a:lnTo>
                    <a:pt x="761999" y="380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51833" y="406401"/>
            <a:ext cx="6679775" cy="808681"/>
          </a:xfrm>
          <a:prstGeom prst="rect">
            <a:avLst/>
          </a:prstGeom>
        </p:spPr>
        <p:txBody>
          <a:bodyPr vert="horz" wrap="square" lIns="0" tIns="358900" rIns="0" bIns="0" rtlCol="0">
            <a:spAutoFit/>
          </a:bodyPr>
          <a:lstStyle/>
          <a:p>
            <a:pPr marL="36197">
              <a:spcBef>
                <a:spcPts val="136"/>
              </a:spcBef>
            </a:pPr>
            <a:r>
              <a:rPr sz="2900" spc="-50" dirty="0">
                <a:latin typeface="Arial"/>
                <a:cs typeface="Arial"/>
              </a:rPr>
              <a:t>Methodology</a:t>
            </a:r>
            <a:endParaRPr sz="2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4272" y="1755648"/>
            <a:ext cx="3718560" cy="4480560"/>
            <a:chOff x="374903" y="1755647"/>
            <a:chExt cx="3718560" cy="4480560"/>
          </a:xfrm>
        </p:grpSpPr>
        <p:sp>
          <p:nvSpPr>
            <p:cNvPr id="7" name="object 7"/>
            <p:cNvSpPr/>
            <p:nvPr/>
          </p:nvSpPr>
          <p:spPr>
            <a:xfrm>
              <a:off x="374903" y="1755647"/>
              <a:ext cx="3718560" cy="4480560"/>
            </a:xfrm>
            <a:custGeom>
              <a:avLst/>
              <a:gdLst/>
              <a:ahLst/>
              <a:cxnLst/>
              <a:rect l="l" t="t" r="r" b="b"/>
              <a:pathLst>
                <a:path w="3718560" h="4480560">
                  <a:moveTo>
                    <a:pt x="3718559" y="4480559"/>
                  </a:moveTo>
                  <a:lnTo>
                    <a:pt x="0" y="4480559"/>
                  </a:lnTo>
                  <a:lnTo>
                    <a:pt x="0" y="0"/>
                  </a:lnTo>
                  <a:lnTo>
                    <a:pt x="3718559" y="0"/>
                  </a:lnTo>
                  <a:lnTo>
                    <a:pt x="3718559" y="54101"/>
                  </a:lnTo>
                  <a:lnTo>
                    <a:pt x="234695" y="54101"/>
                  </a:lnTo>
                  <a:lnTo>
                    <a:pt x="220621" y="54781"/>
                  </a:lnTo>
                  <a:lnTo>
                    <a:pt x="180020" y="64977"/>
                  </a:lnTo>
                  <a:lnTo>
                    <a:pt x="144100" y="86477"/>
                  </a:lnTo>
                  <a:lnTo>
                    <a:pt x="115877" y="117584"/>
                  </a:lnTo>
                  <a:lnTo>
                    <a:pt x="97938" y="155564"/>
                  </a:lnTo>
                  <a:lnTo>
                    <a:pt x="91820" y="196976"/>
                  </a:lnTo>
                  <a:lnTo>
                    <a:pt x="91820" y="4207001"/>
                  </a:lnTo>
                  <a:lnTo>
                    <a:pt x="97938" y="4248413"/>
                  </a:lnTo>
                  <a:lnTo>
                    <a:pt x="115877" y="4286393"/>
                  </a:lnTo>
                  <a:lnTo>
                    <a:pt x="144100" y="4317500"/>
                  </a:lnTo>
                  <a:lnTo>
                    <a:pt x="180020" y="4339000"/>
                  </a:lnTo>
                  <a:lnTo>
                    <a:pt x="220621" y="4349196"/>
                  </a:lnTo>
                  <a:lnTo>
                    <a:pt x="234695" y="4349876"/>
                  </a:lnTo>
                  <a:lnTo>
                    <a:pt x="3718559" y="4349876"/>
                  </a:lnTo>
                  <a:lnTo>
                    <a:pt x="3718559" y="4480559"/>
                  </a:lnTo>
                  <a:close/>
                </a:path>
                <a:path w="3718560" h="4480560">
                  <a:moveTo>
                    <a:pt x="3718559" y="4349876"/>
                  </a:moveTo>
                  <a:lnTo>
                    <a:pt x="3482720" y="4349876"/>
                  </a:lnTo>
                  <a:lnTo>
                    <a:pt x="3496795" y="4349196"/>
                  </a:lnTo>
                  <a:lnTo>
                    <a:pt x="3510599" y="4347157"/>
                  </a:lnTo>
                  <a:lnTo>
                    <a:pt x="3550139" y="4332986"/>
                  </a:lnTo>
                  <a:lnTo>
                    <a:pt x="3583748" y="4308029"/>
                  </a:lnTo>
                  <a:lnTo>
                    <a:pt x="3608705" y="4274420"/>
                  </a:lnTo>
                  <a:lnTo>
                    <a:pt x="3622876" y="4234880"/>
                  </a:lnTo>
                  <a:lnTo>
                    <a:pt x="3625595" y="4207001"/>
                  </a:lnTo>
                  <a:lnTo>
                    <a:pt x="3625595" y="196976"/>
                  </a:lnTo>
                  <a:lnTo>
                    <a:pt x="3619477" y="155564"/>
                  </a:lnTo>
                  <a:lnTo>
                    <a:pt x="3601538" y="117584"/>
                  </a:lnTo>
                  <a:lnTo>
                    <a:pt x="3573315" y="86477"/>
                  </a:lnTo>
                  <a:lnTo>
                    <a:pt x="3537396" y="64977"/>
                  </a:lnTo>
                  <a:lnTo>
                    <a:pt x="3496795" y="54781"/>
                  </a:lnTo>
                  <a:lnTo>
                    <a:pt x="3482720" y="54101"/>
                  </a:lnTo>
                  <a:lnTo>
                    <a:pt x="3718559" y="54101"/>
                  </a:lnTo>
                  <a:lnTo>
                    <a:pt x="3718559" y="434987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199" y="1800224"/>
              <a:ext cx="3552825" cy="4314825"/>
            </a:xfrm>
            <a:custGeom>
              <a:avLst/>
              <a:gdLst/>
              <a:ahLst/>
              <a:cxnLst/>
              <a:rect l="l" t="t" r="r" b="b"/>
              <a:pathLst>
                <a:path w="3552825" h="4314825">
                  <a:moveTo>
                    <a:pt x="3400424" y="4314824"/>
                  </a:moveTo>
                  <a:lnTo>
                    <a:pt x="152399" y="4314824"/>
                  </a:lnTo>
                  <a:lnTo>
                    <a:pt x="144912" y="4314641"/>
                  </a:lnTo>
                  <a:lnTo>
                    <a:pt x="101066" y="4305919"/>
                  </a:lnTo>
                  <a:lnTo>
                    <a:pt x="61607" y="4284828"/>
                  </a:lnTo>
                  <a:lnTo>
                    <a:pt x="29995" y="4253216"/>
                  </a:lnTo>
                  <a:lnTo>
                    <a:pt x="8904" y="4213758"/>
                  </a:lnTo>
                  <a:lnTo>
                    <a:pt x="183" y="4169911"/>
                  </a:lnTo>
                  <a:lnTo>
                    <a:pt x="0" y="4162424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4" y="67731"/>
                  </a:lnTo>
                  <a:lnTo>
                    <a:pt x="55717" y="34591"/>
                  </a:lnTo>
                  <a:lnTo>
                    <a:pt x="94079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3400424" y="0"/>
                  </a:lnTo>
                  <a:lnTo>
                    <a:pt x="3444664" y="6560"/>
                  </a:lnTo>
                  <a:lnTo>
                    <a:pt x="3485093" y="25684"/>
                  </a:lnTo>
                  <a:lnTo>
                    <a:pt x="3518232" y="55717"/>
                  </a:lnTo>
                  <a:lnTo>
                    <a:pt x="3541223" y="94079"/>
                  </a:lnTo>
                  <a:lnTo>
                    <a:pt x="3552092" y="137461"/>
                  </a:lnTo>
                  <a:lnTo>
                    <a:pt x="3552824" y="152399"/>
                  </a:lnTo>
                  <a:lnTo>
                    <a:pt x="3552824" y="4162424"/>
                  </a:lnTo>
                  <a:lnTo>
                    <a:pt x="3546263" y="4206664"/>
                  </a:lnTo>
                  <a:lnTo>
                    <a:pt x="3527140" y="4247093"/>
                  </a:lnTo>
                  <a:lnTo>
                    <a:pt x="3497107" y="4280232"/>
                  </a:lnTo>
                  <a:lnTo>
                    <a:pt x="3458745" y="4303223"/>
                  </a:lnTo>
                  <a:lnTo>
                    <a:pt x="3415362" y="4314092"/>
                  </a:lnTo>
                  <a:lnTo>
                    <a:pt x="3400424" y="4314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999" y="2105024"/>
              <a:ext cx="609599" cy="6095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50119" y="2206625"/>
            <a:ext cx="2921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2400" spc="-250" dirty="0">
                <a:solidFill>
                  <a:srgbClr val="FFFFFF"/>
                </a:solidFill>
                <a:latin typeface="Segoe UI Symbol"/>
                <a:cs typeface="Segoe UI Symbol"/>
              </a:rPr>
              <a:t></a:t>
            </a:r>
            <a:endParaRPr sz="2400">
              <a:latin typeface="Segoe UI Symbol"/>
              <a:cs typeface="Segoe UI 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8670" y="2883674"/>
            <a:ext cx="2027555" cy="2995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851" b="1" spc="-75" dirty="0">
                <a:solidFill>
                  <a:srgbClr val="1D3A8A"/>
                </a:solidFill>
                <a:latin typeface="Arial"/>
                <a:cs typeface="Arial"/>
              </a:rPr>
              <a:t>Dataset</a:t>
            </a:r>
            <a:r>
              <a:rPr sz="1851" b="1" spc="-70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851" b="1" spc="-80" dirty="0">
                <a:solidFill>
                  <a:srgbClr val="1D3A8A"/>
                </a:solidFill>
                <a:latin typeface="Arial"/>
                <a:cs typeface="Arial"/>
              </a:rPr>
              <a:t>Acquisition</a:t>
            </a:r>
            <a:endParaRPr sz="1851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8670" y="3359243"/>
            <a:ext cx="1932940" cy="208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1">
              <a:spcBef>
                <a:spcPts val="126"/>
              </a:spcBef>
            </a:pPr>
            <a:r>
              <a:rPr sz="1250" b="1" spc="-65" dirty="0">
                <a:solidFill>
                  <a:srgbClr val="0FB981"/>
                </a:solidFill>
                <a:latin typeface="Arial"/>
                <a:cs typeface="Arial"/>
              </a:rPr>
              <a:t>Source</a:t>
            </a:r>
            <a:r>
              <a:rPr sz="1200" spc="-65" dirty="0">
                <a:solidFill>
                  <a:srgbClr val="0FB981"/>
                </a:solidFill>
                <a:latin typeface="Arial Black"/>
                <a:cs typeface="Arial Black"/>
              </a:rPr>
              <a:t>:</a:t>
            </a:r>
            <a:r>
              <a:rPr sz="1200" spc="-70" dirty="0">
                <a:solidFill>
                  <a:srgbClr val="0FB981"/>
                </a:solidFill>
                <a:latin typeface="Arial Black"/>
                <a:cs typeface="Arial Black"/>
              </a:rPr>
              <a:t> </a:t>
            </a:r>
            <a:r>
              <a:rPr sz="125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Kaggle</a:t>
            </a:r>
            <a:r>
              <a:rPr sz="125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90" dirty="0">
                <a:solidFill>
                  <a:srgbClr val="334054"/>
                </a:solidFill>
                <a:latin typeface="Microsoft Sans Serif"/>
                <a:cs typeface="Microsoft Sans Serif"/>
              </a:rPr>
              <a:t>MRI</a:t>
            </a:r>
            <a:r>
              <a:rPr sz="125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Dataset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668" y="3702143"/>
            <a:ext cx="731520" cy="208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1">
              <a:spcBef>
                <a:spcPts val="126"/>
              </a:spcBef>
            </a:pPr>
            <a:r>
              <a:rPr sz="1250" b="1" spc="-45" dirty="0">
                <a:solidFill>
                  <a:srgbClr val="0FB981"/>
                </a:solidFill>
                <a:latin typeface="Arial"/>
                <a:cs typeface="Arial"/>
              </a:rPr>
              <a:t>Structure</a:t>
            </a:r>
            <a:r>
              <a:rPr sz="1200" spc="-45" dirty="0">
                <a:solidFill>
                  <a:srgbClr val="0FB981"/>
                </a:solidFill>
                <a:latin typeface="Arial Black"/>
                <a:cs typeface="Arial Black"/>
              </a:rPr>
              <a:t>: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9169" y="4010113"/>
            <a:ext cx="1033144" cy="4524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 marR="5081">
              <a:lnSpc>
                <a:spcPct val="120000"/>
              </a:lnSpc>
              <a:spcBef>
                <a:spcPts val="99"/>
              </a:spcBef>
            </a:pPr>
            <a:r>
              <a:rPr sz="125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Training</a:t>
            </a:r>
            <a:r>
              <a:rPr sz="12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Folder </a:t>
            </a:r>
            <a:r>
              <a:rPr sz="125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Testing</a:t>
            </a:r>
            <a:r>
              <a:rPr sz="12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Folder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8667" y="4540151"/>
            <a:ext cx="1045210" cy="124713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2578" marR="5081" indent="-190511">
              <a:lnSpc>
                <a:spcPct val="140000"/>
              </a:lnSpc>
              <a:spcBef>
                <a:spcPts val="126"/>
              </a:spcBef>
            </a:pPr>
            <a:r>
              <a:rPr sz="1200" spc="-55" dirty="0">
                <a:solidFill>
                  <a:srgbClr val="0FB981"/>
                </a:solidFill>
                <a:latin typeface="Arial Black"/>
                <a:cs typeface="Arial Black"/>
              </a:rPr>
              <a:t>4</a:t>
            </a:r>
            <a:r>
              <a:rPr sz="1200" spc="-131" dirty="0">
                <a:solidFill>
                  <a:srgbClr val="0FB981"/>
                </a:solidFill>
                <a:latin typeface="Arial Black"/>
                <a:cs typeface="Arial Black"/>
              </a:rPr>
              <a:t> </a:t>
            </a:r>
            <a:r>
              <a:rPr sz="1250" b="1" spc="-10" dirty="0">
                <a:solidFill>
                  <a:srgbClr val="0FB981"/>
                </a:solidFill>
                <a:latin typeface="Arial"/>
                <a:cs typeface="Arial"/>
              </a:rPr>
              <a:t>Classes</a:t>
            </a:r>
            <a:r>
              <a:rPr sz="1200" spc="-10" dirty="0">
                <a:solidFill>
                  <a:srgbClr val="0FB981"/>
                </a:solidFill>
                <a:latin typeface="Arial Black"/>
                <a:cs typeface="Arial Black"/>
              </a:rPr>
              <a:t>: </a:t>
            </a:r>
            <a:r>
              <a:rPr sz="12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Glioma</a:t>
            </a:r>
            <a:endParaRPr sz="1250">
              <a:latin typeface="Microsoft Sans Serif"/>
              <a:cs typeface="Microsoft Sans Serif"/>
            </a:endParaRPr>
          </a:p>
          <a:p>
            <a:pPr marL="202578" marR="5081">
              <a:lnSpc>
                <a:spcPct val="120000"/>
              </a:lnSpc>
            </a:pPr>
            <a:r>
              <a:rPr sz="125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Meningioma </a:t>
            </a:r>
            <a:r>
              <a:rPr sz="12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Pituitary</a:t>
            </a:r>
            <a:endParaRPr sz="1250">
              <a:latin typeface="Microsoft Sans Serif"/>
              <a:cs typeface="Microsoft Sans Serif"/>
            </a:endParaRPr>
          </a:p>
          <a:p>
            <a:pPr marL="202578">
              <a:spcBef>
                <a:spcPts val="300"/>
              </a:spcBef>
            </a:pPr>
            <a:r>
              <a:rPr sz="12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No</a:t>
            </a:r>
            <a:r>
              <a:rPr sz="1250" spc="-5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Tumor</a:t>
            </a:r>
            <a:endParaRPr sz="125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63040" y="1755648"/>
            <a:ext cx="3724910" cy="4480560"/>
            <a:chOff x="4233671" y="1755647"/>
            <a:chExt cx="3724910" cy="4480560"/>
          </a:xfrm>
        </p:grpSpPr>
        <p:sp>
          <p:nvSpPr>
            <p:cNvPr id="17" name="object 17"/>
            <p:cNvSpPr/>
            <p:nvPr/>
          </p:nvSpPr>
          <p:spPr>
            <a:xfrm>
              <a:off x="4233671" y="1755647"/>
              <a:ext cx="3724910" cy="4480560"/>
            </a:xfrm>
            <a:custGeom>
              <a:avLst/>
              <a:gdLst/>
              <a:ahLst/>
              <a:cxnLst/>
              <a:rect l="l" t="t" r="r" b="b"/>
              <a:pathLst>
                <a:path w="3724909" h="4480560">
                  <a:moveTo>
                    <a:pt x="3724655" y="4480559"/>
                  </a:moveTo>
                  <a:lnTo>
                    <a:pt x="0" y="4480559"/>
                  </a:lnTo>
                  <a:lnTo>
                    <a:pt x="0" y="0"/>
                  </a:lnTo>
                  <a:lnTo>
                    <a:pt x="3724655" y="0"/>
                  </a:lnTo>
                  <a:lnTo>
                    <a:pt x="3724655" y="54101"/>
                  </a:lnTo>
                  <a:lnTo>
                    <a:pt x="233552" y="54101"/>
                  </a:lnTo>
                  <a:lnTo>
                    <a:pt x="219478" y="54781"/>
                  </a:lnTo>
                  <a:lnTo>
                    <a:pt x="178876" y="64977"/>
                  </a:lnTo>
                  <a:lnTo>
                    <a:pt x="142957" y="86477"/>
                  </a:lnTo>
                  <a:lnTo>
                    <a:pt x="114734" y="117584"/>
                  </a:lnTo>
                  <a:lnTo>
                    <a:pt x="96795" y="155564"/>
                  </a:lnTo>
                  <a:lnTo>
                    <a:pt x="90677" y="196976"/>
                  </a:lnTo>
                  <a:lnTo>
                    <a:pt x="90677" y="4207001"/>
                  </a:lnTo>
                  <a:lnTo>
                    <a:pt x="96795" y="4248413"/>
                  </a:lnTo>
                  <a:lnTo>
                    <a:pt x="114734" y="4286393"/>
                  </a:lnTo>
                  <a:lnTo>
                    <a:pt x="142957" y="4317500"/>
                  </a:lnTo>
                  <a:lnTo>
                    <a:pt x="178876" y="4339000"/>
                  </a:lnTo>
                  <a:lnTo>
                    <a:pt x="219478" y="4349196"/>
                  </a:lnTo>
                  <a:lnTo>
                    <a:pt x="233552" y="4349876"/>
                  </a:lnTo>
                  <a:lnTo>
                    <a:pt x="3724655" y="4349876"/>
                  </a:lnTo>
                  <a:lnTo>
                    <a:pt x="3724655" y="4480559"/>
                  </a:lnTo>
                  <a:close/>
                </a:path>
                <a:path w="3724909" h="4480560">
                  <a:moveTo>
                    <a:pt x="3724655" y="4349876"/>
                  </a:moveTo>
                  <a:lnTo>
                    <a:pt x="3491102" y="4349876"/>
                  </a:lnTo>
                  <a:lnTo>
                    <a:pt x="3505177" y="4349196"/>
                  </a:lnTo>
                  <a:lnTo>
                    <a:pt x="3518980" y="4347157"/>
                  </a:lnTo>
                  <a:lnTo>
                    <a:pt x="3558520" y="4332986"/>
                  </a:lnTo>
                  <a:lnTo>
                    <a:pt x="3592130" y="4308029"/>
                  </a:lnTo>
                  <a:lnTo>
                    <a:pt x="3617087" y="4274420"/>
                  </a:lnTo>
                  <a:lnTo>
                    <a:pt x="3631258" y="4234880"/>
                  </a:lnTo>
                  <a:lnTo>
                    <a:pt x="3633977" y="4207001"/>
                  </a:lnTo>
                  <a:lnTo>
                    <a:pt x="3633977" y="196976"/>
                  </a:lnTo>
                  <a:lnTo>
                    <a:pt x="3627859" y="155564"/>
                  </a:lnTo>
                  <a:lnTo>
                    <a:pt x="3609920" y="117584"/>
                  </a:lnTo>
                  <a:lnTo>
                    <a:pt x="3581697" y="86477"/>
                  </a:lnTo>
                  <a:lnTo>
                    <a:pt x="3545777" y="64977"/>
                  </a:lnTo>
                  <a:lnTo>
                    <a:pt x="3505177" y="54781"/>
                  </a:lnTo>
                  <a:lnTo>
                    <a:pt x="3491102" y="54101"/>
                  </a:lnTo>
                  <a:lnTo>
                    <a:pt x="3724655" y="54101"/>
                  </a:lnTo>
                  <a:lnTo>
                    <a:pt x="3724655" y="434987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14824" y="1800224"/>
              <a:ext cx="3562350" cy="4314825"/>
            </a:xfrm>
            <a:custGeom>
              <a:avLst/>
              <a:gdLst/>
              <a:ahLst/>
              <a:cxnLst/>
              <a:rect l="l" t="t" r="r" b="b"/>
              <a:pathLst>
                <a:path w="3562350" h="4314825">
                  <a:moveTo>
                    <a:pt x="3409949" y="4314824"/>
                  </a:moveTo>
                  <a:lnTo>
                    <a:pt x="152399" y="4314824"/>
                  </a:lnTo>
                  <a:lnTo>
                    <a:pt x="144912" y="4314641"/>
                  </a:lnTo>
                  <a:lnTo>
                    <a:pt x="101066" y="4305919"/>
                  </a:lnTo>
                  <a:lnTo>
                    <a:pt x="61607" y="4284828"/>
                  </a:lnTo>
                  <a:lnTo>
                    <a:pt x="29995" y="4253216"/>
                  </a:lnTo>
                  <a:lnTo>
                    <a:pt x="8904" y="4213758"/>
                  </a:lnTo>
                  <a:lnTo>
                    <a:pt x="183" y="4169911"/>
                  </a:lnTo>
                  <a:lnTo>
                    <a:pt x="0" y="4162424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4" y="67731"/>
                  </a:lnTo>
                  <a:lnTo>
                    <a:pt x="55717" y="34591"/>
                  </a:lnTo>
                  <a:lnTo>
                    <a:pt x="94079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3409949" y="0"/>
                  </a:lnTo>
                  <a:lnTo>
                    <a:pt x="3454189" y="6560"/>
                  </a:lnTo>
                  <a:lnTo>
                    <a:pt x="3494618" y="25684"/>
                  </a:lnTo>
                  <a:lnTo>
                    <a:pt x="3527757" y="55717"/>
                  </a:lnTo>
                  <a:lnTo>
                    <a:pt x="3550748" y="94079"/>
                  </a:lnTo>
                  <a:lnTo>
                    <a:pt x="3561617" y="137461"/>
                  </a:lnTo>
                  <a:lnTo>
                    <a:pt x="3562349" y="152399"/>
                  </a:lnTo>
                  <a:lnTo>
                    <a:pt x="3562349" y="4162424"/>
                  </a:lnTo>
                  <a:lnTo>
                    <a:pt x="3555788" y="4206664"/>
                  </a:lnTo>
                  <a:lnTo>
                    <a:pt x="3536665" y="4247093"/>
                  </a:lnTo>
                  <a:lnTo>
                    <a:pt x="3506632" y="4280232"/>
                  </a:lnTo>
                  <a:lnTo>
                    <a:pt x="3468270" y="4303223"/>
                  </a:lnTo>
                  <a:lnTo>
                    <a:pt x="3424887" y="4314092"/>
                  </a:lnTo>
                  <a:lnTo>
                    <a:pt x="3409949" y="4314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9624" y="2105024"/>
              <a:ext cx="609599" cy="60959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753719" y="2206625"/>
            <a:ext cx="406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2400" spc="650" dirty="0">
                <a:solidFill>
                  <a:srgbClr val="FFFFFF"/>
                </a:solidFill>
                <a:latin typeface="Segoe UI Symbol"/>
                <a:cs typeface="Segoe UI Symbol"/>
              </a:rPr>
              <a:t></a:t>
            </a:r>
            <a:endParaRPr sz="2400">
              <a:latin typeface="Segoe UI Symbol"/>
              <a:cs typeface="Segoe UI 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39419" y="2883674"/>
            <a:ext cx="2032000" cy="2995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851" b="1" spc="-85" dirty="0">
                <a:solidFill>
                  <a:srgbClr val="1D3A8A"/>
                </a:solidFill>
                <a:latin typeface="Arial"/>
                <a:cs typeface="Arial"/>
              </a:rPr>
              <a:t>Data</a:t>
            </a:r>
            <a:r>
              <a:rPr sz="1851" b="1" spc="-90" dirty="0">
                <a:solidFill>
                  <a:srgbClr val="1D3A8A"/>
                </a:solidFill>
                <a:latin typeface="Arial"/>
                <a:cs typeface="Arial"/>
              </a:rPr>
              <a:t> Preprocessing</a:t>
            </a:r>
            <a:endParaRPr sz="1851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39419" y="3359243"/>
            <a:ext cx="1884681" cy="208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1">
              <a:spcBef>
                <a:spcPts val="126"/>
              </a:spcBef>
            </a:pPr>
            <a:r>
              <a:rPr sz="1250" b="1" spc="-60" dirty="0">
                <a:solidFill>
                  <a:srgbClr val="0FB981"/>
                </a:solidFill>
                <a:latin typeface="Arial"/>
                <a:cs typeface="Arial"/>
              </a:rPr>
              <a:t>Resizing</a:t>
            </a:r>
            <a:r>
              <a:rPr sz="1200" spc="-60" dirty="0">
                <a:solidFill>
                  <a:srgbClr val="0FB981"/>
                </a:solidFill>
                <a:latin typeface="Arial Black"/>
                <a:cs typeface="Arial Black"/>
              </a:rPr>
              <a:t>:</a:t>
            </a:r>
            <a:r>
              <a:rPr sz="1200" spc="-65" dirty="0">
                <a:solidFill>
                  <a:srgbClr val="0FB981"/>
                </a:solidFill>
                <a:latin typeface="Arial Black"/>
                <a:cs typeface="Arial Black"/>
              </a:rPr>
              <a:t> </a:t>
            </a:r>
            <a:r>
              <a:rPr sz="12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128×128×3</a:t>
            </a:r>
            <a:r>
              <a:rPr sz="120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pixels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39421" y="3702143"/>
            <a:ext cx="2143125" cy="208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1">
              <a:spcBef>
                <a:spcPts val="126"/>
              </a:spcBef>
            </a:pPr>
            <a:r>
              <a:rPr sz="1250" b="1" spc="-50" dirty="0">
                <a:solidFill>
                  <a:srgbClr val="0FB981"/>
                </a:solidFill>
                <a:latin typeface="Arial"/>
                <a:cs typeface="Arial"/>
              </a:rPr>
              <a:t>Normalization</a:t>
            </a:r>
            <a:r>
              <a:rPr sz="1200" spc="-50" dirty="0">
                <a:solidFill>
                  <a:srgbClr val="0FB981"/>
                </a:solidFill>
                <a:latin typeface="Arial Black"/>
                <a:cs typeface="Arial Black"/>
              </a:rPr>
              <a:t>:</a:t>
            </a:r>
            <a:r>
              <a:rPr sz="1200" spc="-60" dirty="0">
                <a:solidFill>
                  <a:srgbClr val="0FB981"/>
                </a:solidFill>
                <a:latin typeface="Arial Black"/>
                <a:cs typeface="Arial Black"/>
              </a:rPr>
              <a:t> </a:t>
            </a:r>
            <a:r>
              <a:rPr sz="12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Pixel</a:t>
            </a:r>
            <a:r>
              <a:rPr sz="12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values</a:t>
            </a:r>
            <a:r>
              <a:rPr sz="12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Microsoft Sans Serif"/>
                <a:cs typeface="Microsoft Sans Serif"/>
              </a:rPr>
              <a:t>0-</a:t>
            </a:r>
            <a:r>
              <a:rPr sz="1200" spc="-114" dirty="0">
                <a:solidFill>
                  <a:srgbClr val="334054"/>
                </a:solidFill>
                <a:latin typeface="Microsoft Sans Serif"/>
                <a:cs typeface="Microsoft Sans Serif"/>
              </a:rPr>
              <a:t>1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39421" y="4045043"/>
            <a:ext cx="1067435" cy="208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1">
              <a:spcBef>
                <a:spcPts val="126"/>
              </a:spcBef>
            </a:pPr>
            <a:r>
              <a:rPr sz="1250" b="1" spc="-50" dirty="0">
                <a:solidFill>
                  <a:srgbClr val="0FB981"/>
                </a:solidFill>
                <a:latin typeface="Arial"/>
                <a:cs typeface="Arial"/>
              </a:rPr>
              <a:t>Augmentation</a:t>
            </a:r>
            <a:r>
              <a:rPr sz="1200" spc="-50" dirty="0">
                <a:solidFill>
                  <a:srgbClr val="0FB981"/>
                </a:solidFill>
                <a:latin typeface="Arial Black"/>
                <a:cs typeface="Arial Black"/>
              </a:rPr>
              <a:t>: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29920" y="4353013"/>
            <a:ext cx="1421131" cy="6833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 marR="5081" algn="just">
              <a:lnSpc>
                <a:spcPct val="120000"/>
              </a:lnSpc>
              <a:spcBef>
                <a:spcPts val="99"/>
              </a:spcBef>
            </a:pPr>
            <a:r>
              <a:rPr sz="12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Contrast</a:t>
            </a:r>
            <a:r>
              <a:rPr sz="12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adjustment </a:t>
            </a:r>
            <a:r>
              <a:rPr sz="1250" spc="-75" dirty="0">
                <a:solidFill>
                  <a:srgbClr val="334054"/>
                </a:solidFill>
                <a:latin typeface="Microsoft Sans Serif"/>
                <a:cs typeface="Microsoft Sans Serif"/>
              </a:rPr>
              <a:t>Random</a:t>
            </a:r>
            <a:r>
              <a:rPr sz="12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zoom</a:t>
            </a:r>
            <a:r>
              <a:rPr sz="12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in</a:t>
            </a:r>
            <a:r>
              <a:rPr sz="12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/</a:t>
            </a:r>
            <a:r>
              <a:rPr sz="12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out </a:t>
            </a:r>
            <a:r>
              <a:rPr sz="12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Brightness</a:t>
            </a:r>
            <a:r>
              <a:rPr sz="125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variation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39419" y="5188185"/>
            <a:ext cx="1931670" cy="20774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1">
              <a:spcBef>
                <a:spcPts val="119"/>
              </a:spcBef>
            </a:pPr>
            <a:r>
              <a:rPr sz="1250" i="1" spc="-50" dirty="0">
                <a:solidFill>
                  <a:srgbClr val="64738B"/>
                </a:solidFill>
                <a:latin typeface="Arial"/>
                <a:cs typeface="Arial"/>
              </a:rPr>
              <a:t>Enhances</a:t>
            </a:r>
            <a:r>
              <a:rPr sz="1250" i="1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50" i="1" spc="-25" dirty="0">
                <a:solidFill>
                  <a:srgbClr val="64738B"/>
                </a:solidFill>
                <a:latin typeface="Arial"/>
                <a:cs typeface="Arial"/>
              </a:rPr>
              <a:t>model</a:t>
            </a:r>
            <a:r>
              <a:rPr sz="1250" i="1" spc="-3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50" i="1" spc="-25" dirty="0">
                <a:solidFill>
                  <a:srgbClr val="64738B"/>
                </a:solidFill>
                <a:latin typeface="Arial"/>
                <a:cs typeface="Arial"/>
              </a:rPr>
              <a:t>robustness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127904" y="1755648"/>
            <a:ext cx="3718560" cy="4480560"/>
            <a:chOff x="8098535" y="1755647"/>
            <a:chExt cx="3718560" cy="4480560"/>
          </a:xfrm>
        </p:grpSpPr>
        <p:sp>
          <p:nvSpPr>
            <p:cNvPr id="28" name="object 28"/>
            <p:cNvSpPr/>
            <p:nvPr/>
          </p:nvSpPr>
          <p:spPr>
            <a:xfrm>
              <a:off x="8098535" y="1755647"/>
              <a:ext cx="3718560" cy="4480560"/>
            </a:xfrm>
            <a:custGeom>
              <a:avLst/>
              <a:gdLst/>
              <a:ahLst/>
              <a:cxnLst/>
              <a:rect l="l" t="t" r="r" b="b"/>
              <a:pathLst>
                <a:path w="3718559" h="4480560">
                  <a:moveTo>
                    <a:pt x="3718559" y="4480559"/>
                  </a:moveTo>
                  <a:lnTo>
                    <a:pt x="0" y="4480559"/>
                  </a:lnTo>
                  <a:lnTo>
                    <a:pt x="0" y="0"/>
                  </a:lnTo>
                  <a:lnTo>
                    <a:pt x="3718559" y="0"/>
                  </a:lnTo>
                  <a:lnTo>
                    <a:pt x="3718559" y="54101"/>
                  </a:lnTo>
                  <a:lnTo>
                    <a:pt x="235838" y="54101"/>
                  </a:lnTo>
                  <a:lnTo>
                    <a:pt x="221764" y="54781"/>
                  </a:lnTo>
                  <a:lnTo>
                    <a:pt x="181162" y="64977"/>
                  </a:lnTo>
                  <a:lnTo>
                    <a:pt x="145243" y="86477"/>
                  </a:lnTo>
                  <a:lnTo>
                    <a:pt x="117019" y="117584"/>
                  </a:lnTo>
                  <a:lnTo>
                    <a:pt x="99080" y="155564"/>
                  </a:lnTo>
                  <a:lnTo>
                    <a:pt x="92963" y="196976"/>
                  </a:lnTo>
                  <a:lnTo>
                    <a:pt x="92963" y="4207001"/>
                  </a:lnTo>
                  <a:lnTo>
                    <a:pt x="99080" y="4248413"/>
                  </a:lnTo>
                  <a:lnTo>
                    <a:pt x="117019" y="4286393"/>
                  </a:lnTo>
                  <a:lnTo>
                    <a:pt x="145243" y="4317500"/>
                  </a:lnTo>
                  <a:lnTo>
                    <a:pt x="181162" y="4339000"/>
                  </a:lnTo>
                  <a:lnTo>
                    <a:pt x="221764" y="4349196"/>
                  </a:lnTo>
                  <a:lnTo>
                    <a:pt x="235838" y="4349876"/>
                  </a:lnTo>
                  <a:lnTo>
                    <a:pt x="3718559" y="4349876"/>
                  </a:lnTo>
                  <a:lnTo>
                    <a:pt x="3718559" y="4480559"/>
                  </a:lnTo>
                  <a:close/>
                </a:path>
                <a:path w="3718559" h="4480560">
                  <a:moveTo>
                    <a:pt x="3718559" y="4349876"/>
                  </a:moveTo>
                  <a:lnTo>
                    <a:pt x="3483863" y="4349876"/>
                  </a:lnTo>
                  <a:lnTo>
                    <a:pt x="3497938" y="4349196"/>
                  </a:lnTo>
                  <a:lnTo>
                    <a:pt x="3511741" y="4347157"/>
                  </a:lnTo>
                  <a:lnTo>
                    <a:pt x="3551281" y="4332986"/>
                  </a:lnTo>
                  <a:lnTo>
                    <a:pt x="3584890" y="4308029"/>
                  </a:lnTo>
                  <a:lnTo>
                    <a:pt x="3609847" y="4274420"/>
                  </a:lnTo>
                  <a:lnTo>
                    <a:pt x="3624018" y="4234880"/>
                  </a:lnTo>
                  <a:lnTo>
                    <a:pt x="3626738" y="4207001"/>
                  </a:lnTo>
                  <a:lnTo>
                    <a:pt x="3626738" y="196976"/>
                  </a:lnTo>
                  <a:lnTo>
                    <a:pt x="3620619" y="155564"/>
                  </a:lnTo>
                  <a:lnTo>
                    <a:pt x="3602681" y="117584"/>
                  </a:lnTo>
                  <a:lnTo>
                    <a:pt x="3574457" y="86477"/>
                  </a:lnTo>
                  <a:lnTo>
                    <a:pt x="3538538" y="64977"/>
                  </a:lnTo>
                  <a:lnTo>
                    <a:pt x="3497938" y="54781"/>
                  </a:lnTo>
                  <a:lnTo>
                    <a:pt x="3483863" y="54101"/>
                  </a:lnTo>
                  <a:lnTo>
                    <a:pt x="3718559" y="54101"/>
                  </a:lnTo>
                  <a:lnTo>
                    <a:pt x="3718559" y="434987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81974" y="1800224"/>
              <a:ext cx="3552825" cy="4314825"/>
            </a:xfrm>
            <a:custGeom>
              <a:avLst/>
              <a:gdLst/>
              <a:ahLst/>
              <a:cxnLst/>
              <a:rect l="l" t="t" r="r" b="b"/>
              <a:pathLst>
                <a:path w="3552825" h="4314825">
                  <a:moveTo>
                    <a:pt x="3400424" y="4314824"/>
                  </a:moveTo>
                  <a:lnTo>
                    <a:pt x="152399" y="4314824"/>
                  </a:lnTo>
                  <a:lnTo>
                    <a:pt x="144912" y="4314641"/>
                  </a:lnTo>
                  <a:lnTo>
                    <a:pt x="101066" y="4305919"/>
                  </a:lnTo>
                  <a:lnTo>
                    <a:pt x="61607" y="4284828"/>
                  </a:lnTo>
                  <a:lnTo>
                    <a:pt x="29995" y="4253216"/>
                  </a:lnTo>
                  <a:lnTo>
                    <a:pt x="8904" y="4213758"/>
                  </a:lnTo>
                  <a:lnTo>
                    <a:pt x="183" y="4169911"/>
                  </a:lnTo>
                  <a:lnTo>
                    <a:pt x="0" y="4162424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4" y="67731"/>
                  </a:lnTo>
                  <a:lnTo>
                    <a:pt x="55717" y="34591"/>
                  </a:lnTo>
                  <a:lnTo>
                    <a:pt x="94079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3400424" y="0"/>
                  </a:lnTo>
                  <a:lnTo>
                    <a:pt x="3444664" y="6560"/>
                  </a:lnTo>
                  <a:lnTo>
                    <a:pt x="3485093" y="25684"/>
                  </a:lnTo>
                  <a:lnTo>
                    <a:pt x="3518232" y="55717"/>
                  </a:lnTo>
                  <a:lnTo>
                    <a:pt x="3541223" y="94079"/>
                  </a:lnTo>
                  <a:lnTo>
                    <a:pt x="3552092" y="137461"/>
                  </a:lnTo>
                  <a:lnTo>
                    <a:pt x="3552824" y="152399"/>
                  </a:lnTo>
                  <a:lnTo>
                    <a:pt x="3552824" y="4162424"/>
                  </a:lnTo>
                  <a:lnTo>
                    <a:pt x="3546263" y="4206664"/>
                  </a:lnTo>
                  <a:lnTo>
                    <a:pt x="3527140" y="4247093"/>
                  </a:lnTo>
                  <a:lnTo>
                    <a:pt x="3497107" y="4280232"/>
                  </a:lnTo>
                  <a:lnTo>
                    <a:pt x="3458745" y="4303223"/>
                  </a:lnTo>
                  <a:lnTo>
                    <a:pt x="3415362" y="4314092"/>
                  </a:lnTo>
                  <a:lnTo>
                    <a:pt x="3400424" y="4314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86774" y="2105024"/>
              <a:ext cx="609599" cy="60959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8652570" y="2206625"/>
            <a:ext cx="330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2400" spc="50" dirty="0">
                <a:solidFill>
                  <a:srgbClr val="FFFFFF"/>
                </a:solidFill>
                <a:latin typeface="Segoe UI Symbol"/>
                <a:cs typeface="Segoe UI Symbol"/>
              </a:rPr>
              <a:t></a:t>
            </a:r>
            <a:endParaRPr sz="2400">
              <a:latin typeface="Segoe UI Symbol"/>
              <a:cs typeface="Segoe UI 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00171" y="2883674"/>
            <a:ext cx="2046605" cy="2995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851" b="1" spc="-150" dirty="0">
                <a:solidFill>
                  <a:srgbClr val="1D3A8A"/>
                </a:solidFill>
                <a:latin typeface="Arial"/>
                <a:cs typeface="Arial"/>
              </a:rPr>
              <a:t>VGG</a:t>
            </a:r>
            <a:r>
              <a:rPr b="1" spc="-150" dirty="0">
                <a:solidFill>
                  <a:srgbClr val="1D3A8A"/>
                </a:solidFill>
                <a:latin typeface="Arial"/>
                <a:cs typeface="Arial"/>
              </a:rPr>
              <a:t>16</a:t>
            </a:r>
            <a:r>
              <a:rPr b="1" spc="-95" dirty="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sz="1851" b="1" spc="-65" dirty="0">
                <a:solidFill>
                  <a:srgbClr val="1D3A8A"/>
                </a:solidFill>
                <a:latin typeface="Arial"/>
                <a:cs typeface="Arial"/>
              </a:rPr>
              <a:t>Architecture</a:t>
            </a:r>
            <a:endParaRPr sz="1851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00170" y="3321585"/>
            <a:ext cx="2329180" cy="45506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1" marR="5081">
              <a:lnSpc>
                <a:spcPct val="120000"/>
              </a:lnSpc>
              <a:spcBef>
                <a:spcPts val="119"/>
              </a:spcBef>
            </a:pPr>
            <a:r>
              <a:rPr sz="1250" b="1" spc="-55" dirty="0">
                <a:solidFill>
                  <a:srgbClr val="0FB981"/>
                </a:solidFill>
                <a:latin typeface="Arial"/>
                <a:cs typeface="Arial"/>
              </a:rPr>
              <a:t>Transfer</a:t>
            </a:r>
            <a:r>
              <a:rPr sz="1250" b="1" spc="-45" dirty="0">
                <a:solidFill>
                  <a:srgbClr val="0FB981"/>
                </a:solidFill>
                <a:latin typeface="Arial"/>
                <a:cs typeface="Arial"/>
              </a:rPr>
              <a:t> </a:t>
            </a:r>
            <a:r>
              <a:rPr sz="1250" b="1" spc="-60" dirty="0">
                <a:solidFill>
                  <a:srgbClr val="0FB981"/>
                </a:solidFill>
                <a:latin typeface="Arial"/>
                <a:cs typeface="Arial"/>
              </a:rPr>
              <a:t>Learning</a:t>
            </a:r>
            <a:r>
              <a:rPr sz="1200" spc="-60" dirty="0">
                <a:solidFill>
                  <a:srgbClr val="0FB981"/>
                </a:solidFill>
                <a:latin typeface="Arial Black"/>
                <a:cs typeface="Arial Black"/>
              </a:rPr>
              <a:t>:</a:t>
            </a:r>
            <a:r>
              <a:rPr sz="1200" spc="-40" dirty="0">
                <a:solidFill>
                  <a:srgbClr val="0FB981"/>
                </a:solidFill>
                <a:latin typeface="Arial Black"/>
                <a:cs typeface="Arial Black"/>
              </a:rPr>
              <a:t> </a:t>
            </a:r>
            <a:r>
              <a:rPr sz="12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Pre</a:t>
            </a:r>
            <a:r>
              <a:rPr sz="12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-</a:t>
            </a:r>
            <a:r>
              <a:rPr sz="12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trained</a:t>
            </a:r>
            <a:r>
              <a:rPr sz="1250" spc="3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on </a:t>
            </a:r>
            <a:r>
              <a:rPr sz="12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ImageNet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00171" y="3930743"/>
            <a:ext cx="1017269" cy="208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1">
              <a:spcBef>
                <a:spcPts val="126"/>
              </a:spcBef>
            </a:pPr>
            <a:r>
              <a:rPr sz="1250" b="1" spc="-75" dirty="0">
                <a:solidFill>
                  <a:srgbClr val="0FB981"/>
                </a:solidFill>
                <a:latin typeface="Arial"/>
                <a:cs typeface="Arial"/>
              </a:rPr>
              <a:t>Custom</a:t>
            </a:r>
            <a:r>
              <a:rPr sz="1250" b="1" spc="-45" dirty="0">
                <a:solidFill>
                  <a:srgbClr val="0FB981"/>
                </a:solidFill>
                <a:latin typeface="Arial"/>
                <a:cs typeface="Arial"/>
              </a:rPr>
              <a:t> </a:t>
            </a:r>
            <a:r>
              <a:rPr sz="1250" b="1" spc="-30" dirty="0">
                <a:solidFill>
                  <a:srgbClr val="0FB981"/>
                </a:solidFill>
                <a:latin typeface="Arial"/>
                <a:cs typeface="Arial"/>
              </a:rPr>
              <a:t>Head</a:t>
            </a:r>
            <a:r>
              <a:rPr sz="1200" spc="-30" dirty="0">
                <a:solidFill>
                  <a:srgbClr val="0FB981"/>
                </a:solidFill>
                <a:latin typeface="Arial Black"/>
                <a:cs typeface="Arial Black"/>
              </a:rPr>
              <a:t>: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90671" y="4238712"/>
            <a:ext cx="159448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 marR="5081">
              <a:lnSpc>
                <a:spcPct val="120000"/>
              </a:lnSpc>
              <a:spcBef>
                <a:spcPts val="99"/>
              </a:spcBef>
            </a:pPr>
            <a:r>
              <a:rPr sz="12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Global</a:t>
            </a:r>
            <a:r>
              <a:rPr sz="12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Average</a:t>
            </a:r>
            <a:r>
              <a:rPr sz="12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Pooling </a:t>
            </a:r>
            <a:r>
              <a:rPr sz="1250" spc="-55" dirty="0">
                <a:solidFill>
                  <a:srgbClr val="334054"/>
                </a:solidFill>
                <a:latin typeface="Microsoft Sans Serif"/>
                <a:cs typeface="Microsoft Sans Serif"/>
              </a:rPr>
              <a:t>Dense</a:t>
            </a:r>
            <a:r>
              <a:rPr sz="125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5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Layer</a:t>
            </a:r>
            <a:r>
              <a:rPr sz="12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(</a:t>
            </a:r>
            <a:r>
              <a:rPr sz="12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ReLU</a:t>
            </a:r>
            <a:r>
              <a:rPr sz="12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) </a:t>
            </a:r>
            <a:r>
              <a:rPr sz="12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Dropout</a:t>
            </a:r>
            <a:r>
              <a:rPr sz="12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(0.2)</a:t>
            </a:r>
            <a:endParaRPr sz="1200">
              <a:latin typeface="Microsoft Sans Serif"/>
              <a:cs typeface="Microsoft Sans Serif"/>
            </a:endParaRPr>
          </a:p>
          <a:p>
            <a:pPr marL="12701">
              <a:spcBef>
                <a:spcPts val="300"/>
              </a:spcBef>
            </a:pPr>
            <a:r>
              <a:rPr sz="12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Softmax </a:t>
            </a:r>
            <a:r>
              <a:rPr sz="12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Output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00169" y="5302485"/>
            <a:ext cx="1306829" cy="20774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1">
              <a:spcBef>
                <a:spcPts val="119"/>
              </a:spcBef>
            </a:pPr>
            <a:r>
              <a:rPr sz="1250" i="1" spc="-55" dirty="0">
                <a:solidFill>
                  <a:srgbClr val="64738B"/>
                </a:solidFill>
                <a:latin typeface="Arial"/>
                <a:cs typeface="Arial"/>
              </a:rPr>
              <a:t>16-</a:t>
            </a:r>
            <a:r>
              <a:rPr sz="1250" i="1" spc="-25" dirty="0">
                <a:solidFill>
                  <a:srgbClr val="64738B"/>
                </a:solidFill>
                <a:latin typeface="Arial"/>
                <a:cs typeface="Arial"/>
              </a:rPr>
              <a:t>layer</a:t>
            </a:r>
            <a:r>
              <a:rPr sz="1250" i="1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50" i="1" spc="-20" dirty="0">
                <a:solidFill>
                  <a:srgbClr val="64738B"/>
                </a:solidFill>
                <a:latin typeface="Arial"/>
                <a:cs typeface="Arial"/>
              </a:rPr>
              <a:t>deep</a:t>
            </a:r>
            <a:r>
              <a:rPr sz="1250" i="1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1250" i="1" spc="-50" dirty="0">
                <a:solidFill>
                  <a:srgbClr val="64738B"/>
                </a:solidFill>
                <a:latin typeface="Arial"/>
                <a:cs typeface="Arial"/>
              </a:rPr>
              <a:t>CNN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70" y="0"/>
            <a:ext cx="11550315" cy="68489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1833" y="406400"/>
            <a:ext cx="6679775" cy="447390"/>
          </a:xfrm>
          <a:prstGeom prst="rect">
            <a:avLst/>
          </a:prstGeom>
        </p:spPr>
        <p:txBody>
          <a:bodyPr vert="horz" wrap="square" lIns="0" tIns="54443" rIns="0" bIns="0" rtlCol="0">
            <a:spAutoFit/>
          </a:bodyPr>
          <a:lstStyle/>
          <a:p>
            <a:pPr marL="12701">
              <a:spcBef>
                <a:spcPts val="104"/>
              </a:spcBef>
            </a:pPr>
            <a:r>
              <a:rPr sz="2550" spc="391" dirty="0"/>
              <a:t>Model</a:t>
            </a:r>
            <a:r>
              <a:rPr sz="2550" spc="349" dirty="0"/>
              <a:t> </a:t>
            </a:r>
            <a:r>
              <a:rPr sz="2550" spc="354" dirty="0"/>
              <a:t>Training </a:t>
            </a:r>
            <a:r>
              <a:rPr sz="2550" spc="440" dirty="0"/>
              <a:t>&amp;</a:t>
            </a:r>
            <a:r>
              <a:rPr sz="2550" spc="354" dirty="0"/>
              <a:t> </a:t>
            </a:r>
            <a:r>
              <a:rPr sz="2550" spc="400" dirty="0"/>
              <a:t>Architecture</a:t>
            </a:r>
            <a:endParaRPr sz="2550"/>
          </a:p>
        </p:txBody>
      </p:sp>
      <p:grpSp>
        <p:nvGrpSpPr>
          <p:cNvPr id="4" name="object 4"/>
          <p:cNvGrpSpPr/>
          <p:nvPr/>
        </p:nvGrpSpPr>
        <p:grpSpPr>
          <a:xfrm>
            <a:off x="384541" y="1238772"/>
            <a:ext cx="5316220" cy="4198619"/>
            <a:chOff x="355172" y="1238771"/>
            <a:chExt cx="5316220" cy="4198620"/>
          </a:xfrm>
        </p:grpSpPr>
        <p:sp>
          <p:nvSpPr>
            <p:cNvPr id="5" name="object 5"/>
            <p:cNvSpPr/>
            <p:nvPr/>
          </p:nvSpPr>
          <p:spPr>
            <a:xfrm>
              <a:off x="355172" y="1238771"/>
              <a:ext cx="5316220" cy="4198620"/>
            </a:xfrm>
            <a:custGeom>
              <a:avLst/>
              <a:gdLst/>
              <a:ahLst/>
              <a:cxnLst/>
              <a:rect l="l" t="t" r="r" b="b"/>
              <a:pathLst>
                <a:path w="5316220" h="4198620">
                  <a:moveTo>
                    <a:pt x="5316032" y="4198539"/>
                  </a:moveTo>
                  <a:lnTo>
                    <a:pt x="0" y="4198539"/>
                  </a:lnTo>
                  <a:lnTo>
                    <a:pt x="0" y="0"/>
                  </a:lnTo>
                  <a:lnTo>
                    <a:pt x="5316032" y="0"/>
                  </a:lnTo>
                  <a:lnTo>
                    <a:pt x="5316032" y="51615"/>
                  </a:lnTo>
                  <a:lnTo>
                    <a:pt x="186248" y="51615"/>
                  </a:lnTo>
                  <a:lnTo>
                    <a:pt x="176470" y="52087"/>
                  </a:lnTo>
                  <a:lnTo>
                    <a:pt x="139410" y="63349"/>
                  </a:lnTo>
                  <a:lnTo>
                    <a:pt x="109480" y="87936"/>
                  </a:lnTo>
                  <a:lnTo>
                    <a:pt x="91238" y="122105"/>
                  </a:lnTo>
                  <a:lnTo>
                    <a:pt x="86988" y="150875"/>
                  </a:lnTo>
                  <a:lnTo>
                    <a:pt x="86988" y="3976917"/>
                  </a:lnTo>
                  <a:lnTo>
                    <a:pt x="94544" y="4014902"/>
                  </a:lnTo>
                  <a:lnTo>
                    <a:pt x="116061" y="4047105"/>
                  </a:lnTo>
                  <a:lnTo>
                    <a:pt x="148263" y="4068621"/>
                  </a:lnTo>
                  <a:lnTo>
                    <a:pt x="186248" y="4076178"/>
                  </a:lnTo>
                  <a:lnTo>
                    <a:pt x="5316032" y="4076178"/>
                  </a:lnTo>
                  <a:lnTo>
                    <a:pt x="5316032" y="4198539"/>
                  </a:lnTo>
                  <a:close/>
                </a:path>
                <a:path w="5316220" h="4198620">
                  <a:moveTo>
                    <a:pt x="5316032" y="4076178"/>
                  </a:moveTo>
                  <a:lnTo>
                    <a:pt x="5131227" y="4076178"/>
                  </a:lnTo>
                  <a:lnTo>
                    <a:pt x="5141004" y="4075705"/>
                  </a:lnTo>
                  <a:lnTo>
                    <a:pt x="5150594" y="4074288"/>
                  </a:lnTo>
                  <a:lnTo>
                    <a:pt x="5186383" y="4059464"/>
                  </a:lnTo>
                  <a:lnTo>
                    <a:pt x="5213774" y="4032073"/>
                  </a:lnTo>
                  <a:lnTo>
                    <a:pt x="5228598" y="3996285"/>
                  </a:lnTo>
                  <a:lnTo>
                    <a:pt x="5230487" y="3976917"/>
                  </a:lnTo>
                  <a:lnTo>
                    <a:pt x="5230487" y="150875"/>
                  </a:lnTo>
                  <a:lnTo>
                    <a:pt x="5222931" y="112890"/>
                  </a:lnTo>
                  <a:lnTo>
                    <a:pt x="5201414" y="80688"/>
                  </a:lnTo>
                  <a:lnTo>
                    <a:pt x="5169211" y="59171"/>
                  </a:lnTo>
                  <a:lnTo>
                    <a:pt x="5131227" y="51615"/>
                  </a:lnTo>
                  <a:lnTo>
                    <a:pt x="5316032" y="51615"/>
                  </a:lnTo>
                  <a:lnTo>
                    <a:pt x="5316032" y="4076178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3136" y="1281363"/>
              <a:ext cx="5161915" cy="4043045"/>
            </a:xfrm>
            <a:custGeom>
              <a:avLst/>
              <a:gdLst/>
              <a:ahLst/>
              <a:cxnLst/>
              <a:rect l="l" t="t" r="r" b="b"/>
              <a:pathLst>
                <a:path w="5161915" h="4043045">
                  <a:moveTo>
                    <a:pt x="5060372" y="4042610"/>
                  </a:moveTo>
                  <a:lnTo>
                    <a:pt x="101174" y="4042610"/>
                  </a:lnTo>
                  <a:lnTo>
                    <a:pt x="94132" y="4041916"/>
                  </a:lnTo>
                  <a:lnTo>
                    <a:pt x="54036" y="4028310"/>
                  </a:lnTo>
                  <a:lnTo>
                    <a:pt x="22199" y="4000396"/>
                  </a:lnTo>
                  <a:lnTo>
                    <a:pt x="3467" y="3962424"/>
                  </a:lnTo>
                  <a:lnTo>
                    <a:pt x="0" y="3941436"/>
                  </a:lnTo>
                  <a:lnTo>
                    <a:pt x="0" y="3934326"/>
                  </a:lnTo>
                  <a:lnTo>
                    <a:pt x="0" y="101174"/>
                  </a:lnTo>
                  <a:lnTo>
                    <a:pt x="10963" y="60276"/>
                  </a:lnTo>
                  <a:lnTo>
                    <a:pt x="36743" y="26688"/>
                  </a:lnTo>
                  <a:lnTo>
                    <a:pt x="73414" y="5521"/>
                  </a:lnTo>
                  <a:lnTo>
                    <a:pt x="101174" y="0"/>
                  </a:lnTo>
                  <a:lnTo>
                    <a:pt x="5060372" y="0"/>
                  </a:lnTo>
                  <a:lnTo>
                    <a:pt x="5101269" y="10963"/>
                  </a:lnTo>
                  <a:lnTo>
                    <a:pt x="5134858" y="36743"/>
                  </a:lnTo>
                  <a:lnTo>
                    <a:pt x="5156025" y="73414"/>
                  </a:lnTo>
                  <a:lnTo>
                    <a:pt x="5161547" y="101174"/>
                  </a:lnTo>
                  <a:lnTo>
                    <a:pt x="5161547" y="3941436"/>
                  </a:lnTo>
                  <a:lnTo>
                    <a:pt x="5150583" y="3982333"/>
                  </a:lnTo>
                  <a:lnTo>
                    <a:pt x="5124803" y="4015921"/>
                  </a:lnTo>
                  <a:lnTo>
                    <a:pt x="5088131" y="4037088"/>
                  </a:lnTo>
                  <a:lnTo>
                    <a:pt x="5067414" y="4041916"/>
                  </a:lnTo>
                  <a:lnTo>
                    <a:pt x="5060372" y="40426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19854" y="1557421"/>
            <a:ext cx="2447291" cy="275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4"/>
              </a:spcBef>
            </a:pPr>
            <a:r>
              <a:rPr sz="1700" b="1" spc="349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VGG16</a:t>
            </a:r>
            <a:r>
              <a:rPr sz="1700" b="1" spc="22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700" b="1" spc="26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Architecture</a:t>
            </a:r>
            <a:endParaRPr sz="1700">
              <a:latin typeface="Adobe Clean SemiCondensed"/>
              <a:cs typeface="Adobe Clean SemiCondensed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3217" y="4547936"/>
            <a:ext cx="4620126" cy="50532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803501" y="4688639"/>
            <a:ext cx="2479675" cy="1867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1">
              <a:spcBef>
                <a:spcPts val="136"/>
              </a:spcBef>
            </a:pPr>
            <a:r>
              <a:rPr sz="1101" spc="645" dirty="0">
                <a:solidFill>
                  <a:srgbClr val="FFFFFF"/>
                </a:solidFill>
                <a:latin typeface="Segoe UI Symbol"/>
                <a:cs typeface="Segoe UI Symbol"/>
              </a:rPr>
              <a:t></a:t>
            </a:r>
            <a:r>
              <a:rPr sz="1101" spc="280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1" b="1" spc="22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Softmax</a:t>
            </a:r>
            <a:r>
              <a:rPr sz="1101" b="1" spc="17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101" b="1" spc="21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Output</a:t>
            </a:r>
            <a:r>
              <a:rPr sz="1101" b="1" spc="16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101" b="1" spc="17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(4 </a:t>
            </a:r>
            <a:r>
              <a:rPr sz="1101" b="1" spc="119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Classes)</a:t>
            </a:r>
            <a:endParaRPr sz="1101">
              <a:latin typeface="Adobe Clean SemiCondensed"/>
              <a:cs typeface="Adobe Clean SemiCondensed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3217" y="2093495"/>
            <a:ext cx="4620126" cy="50532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417534" y="2234198"/>
            <a:ext cx="1251585" cy="1867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1">
              <a:spcBef>
                <a:spcPts val="136"/>
              </a:spcBef>
            </a:pPr>
            <a:r>
              <a:rPr sz="1101" spc="866" dirty="0">
                <a:solidFill>
                  <a:srgbClr val="FFFFFF"/>
                </a:solidFill>
                <a:latin typeface="Segoe UI Symbol"/>
                <a:cs typeface="Segoe UI Symbol"/>
              </a:rPr>
              <a:t></a:t>
            </a:r>
            <a:r>
              <a:rPr sz="1101" spc="270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1" b="1" spc="24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VGG16</a:t>
            </a:r>
            <a:r>
              <a:rPr sz="1101" b="1" spc="155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 </a:t>
            </a:r>
            <a:r>
              <a:rPr sz="1101" b="1" spc="5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Base</a:t>
            </a:r>
            <a:endParaRPr sz="1101">
              <a:latin typeface="Adobe Clean SemiCondensed"/>
              <a:cs typeface="Adobe Clean SemiCondensed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33216" y="2598823"/>
            <a:ext cx="4620260" cy="605154"/>
            <a:chOff x="703847" y="2598821"/>
            <a:chExt cx="4620260" cy="605155"/>
          </a:xfrm>
        </p:grpSpPr>
        <p:sp>
          <p:nvSpPr>
            <p:cNvPr id="13" name="object 13"/>
            <p:cNvSpPr/>
            <p:nvPr/>
          </p:nvSpPr>
          <p:spPr>
            <a:xfrm>
              <a:off x="2941720" y="2598821"/>
              <a:ext cx="144780" cy="72390"/>
            </a:xfrm>
            <a:custGeom>
              <a:avLst/>
              <a:gdLst/>
              <a:ahLst/>
              <a:cxnLst/>
              <a:rect l="l" t="t" r="r" b="b"/>
              <a:pathLst>
                <a:path w="144780" h="72389">
                  <a:moveTo>
                    <a:pt x="72189" y="72189"/>
                  </a:moveTo>
                  <a:lnTo>
                    <a:pt x="0" y="0"/>
                  </a:lnTo>
                  <a:lnTo>
                    <a:pt x="144378" y="0"/>
                  </a:lnTo>
                  <a:lnTo>
                    <a:pt x="72189" y="7218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3847" y="2743199"/>
              <a:ext cx="4620260" cy="460375"/>
            </a:xfrm>
            <a:custGeom>
              <a:avLst/>
              <a:gdLst/>
              <a:ahLst/>
              <a:cxnLst/>
              <a:rect l="l" t="t" r="r" b="b"/>
              <a:pathLst>
                <a:path w="4620260" h="460375">
                  <a:moveTo>
                    <a:pt x="4552676" y="460207"/>
                  </a:moveTo>
                  <a:lnTo>
                    <a:pt x="67449" y="460207"/>
                  </a:lnTo>
                  <a:lnTo>
                    <a:pt x="62754" y="459745"/>
                  </a:lnTo>
                  <a:lnTo>
                    <a:pt x="24495" y="442415"/>
                  </a:lnTo>
                  <a:lnTo>
                    <a:pt x="2311" y="406750"/>
                  </a:lnTo>
                  <a:lnTo>
                    <a:pt x="0" y="392758"/>
                  </a:lnTo>
                  <a:lnTo>
                    <a:pt x="0" y="388018"/>
                  </a:lnTo>
                  <a:lnTo>
                    <a:pt x="0" y="67449"/>
                  </a:lnTo>
                  <a:lnTo>
                    <a:pt x="14799" y="28141"/>
                  </a:lnTo>
                  <a:lnTo>
                    <a:pt x="48942" y="3681"/>
                  </a:lnTo>
                  <a:lnTo>
                    <a:pt x="67449" y="0"/>
                  </a:lnTo>
                  <a:lnTo>
                    <a:pt x="4552676" y="0"/>
                  </a:lnTo>
                  <a:lnTo>
                    <a:pt x="4591983" y="14799"/>
                  </a:lnTo>
                  <a:lnTo>
                    <a:pt x="4616444" y="48942"/>
                  </a:lnTo>
                  <a:lnTo>
                    <a:pt x="4620125" y="67449"/>
                  </a:lnTo>
                  <a:lnTo>
                    <a:pt x="4620125" y="392758"/>
                  </a:lnTo>
                  <a:lnTo>
                    <a:pt x="4605325" y="432065"/>
                  </a:lnTo>
                  <a:lnTo>
                    <a:pt x="4571182" y="456526"/>
                  </a:lnTo>
                  <a:lnTo>
                    <a:pt x="4557370" y="459745"/>
                  </a:lnTo>
                  <a:lnTo>
                    <a:pt x="4552676" y="460207"/>
                  </a:lnTo>
                  <a:close/>
                </a:path>
              </a:pathLst>
            </a:custGeom>
            <a:solidFill>
              <a:srgbClr val="DF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41887" y="2865856"/>
            <a:ext cx="1802764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050" b="1" spc="15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Global </a:t>
            </a:r>
            <a:r>
              <a:rPr sz="1050" b="1" spc="19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Average</a:t>
            </a:r>
            <a:r>
              <a:rPr sz="1050" b="1" spc="15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Pooling</a:t>
            </a:r>
            <a:endParaRPr sz="1050">
              <a:latin typeface="Adobe Clean SemiCondensed"/>
              <a:cs typeface="Adobe Clean SemiCondensed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3216" y="3203410"/>
            <a:ext cx="4620260" cy="595630"/>
          </a:xfrm>
          <a:custGeom>
            <a:avLst/>
            <a:gdLst/>
            <a:ahLst/>
            <a:cxnLst/>
            <a:rect l="l" t="t" r="r" b="b"/>
            <a:pathLst>
              <a:path w="4620260" h="595629">
                <a:moveTo>
                  <a:pt x="2382240" y="0"/>
                </a:moveTo>
                <a:lnTo>
                  <a:pt x="2237867" y="0"/>
                </a:lnTo>
                <a:lnTo>
                  <a:pt x="2310053" y="72199"/>
                </a:lnTo>
                <a:lnTo>
                  <a:pt x="2382240" y="0"/>
                </a:lnTo>
                <a:close/>
              </a:path>
              <a:path w="4620260" h="595629">
                <a:moveTo>
                  <a:pt x="4620120" y="211836"/>
                </a:moveTo>
                <a:lnTo>
                  <a:pt x="4605325" y="172529"/>
                </a:lnTo>
                <a:lnTo>
                  <a:pt x="4571174" y="148069"/>
                </a:lnTo>
                <a:lnTo>
                  <a:pt x="4552670" y="144386"/>
                </a:lnTo>
                <a:lnTo>
                  <a:pt x="67449" y="144386"/>
                </a:lnTo>
                <a:lnTo>
                  <a:pt x="28130" y="159181"/>
                </a:lnTo>
                <a:lnTo>
                  <a:pt x="3670" y="193332"/>
                </a:lnTo>
                <a:lnTo>
                  <a:pt x="0" y="211836"/>
                </a:lnTo>
                <a:lnTo>
                  <a:pt x="0" y="523379"/>
                </a:lnTo>
                <a:lnTo>
                  <a:pt x="0" y="528116"/>
                </a:lnTo>
                <a:lnTo>
                  <a:pt x="14795" y="567423"/>
                </a:lnTo>
                <a:lnTo>
                  <a:pt x="48933" y="591883"/>
                </a:lnTo>
                <a:lnTo>
                  <a:pt x="67449" y="595566"/>
                </a:lnTo>
                <a:lnTo>
                  <a:pt x="4552670" y="595566"/>
                </a:lnTo>
                <a:lnTo>
                  <a:pt x="4591977" y="580771"/>
                </a:lnTo>
                <a:lnTo>
                  <a:pt x="4616437" y="546620"/>
                </a:lnTo>
                <a:lnTo>
                  <a:pt x="4620120" y="528116"/>
                </a:lnTo>
                <a:lnTo>
                  <a:pt x="4620120" y="211836"/>
                </a:lnTo>
                <a:close/>
              </a:path>
            </a:pathLst>
          </a:custGeom>
          <a:solidFill>
            <a:srgbClr val="DFE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281331" y="3470443"/>
            <a:ext cx="1524000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050" b="1" spc="20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Dense</a:t>
            </a:r>
            <a:r>
              <a:rPr sz="1050" b="1" spc="15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7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Layer</a:t>
            </a:r>
            <a:r>
              <a:rPr sz="1050" b="1" spc="15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46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(ReLU)</a:t>
            </a:r>
            <a:endParaRPr sz="1050">
              <a:latin typeface="Adobe Clean SemiCondensed"/>
              <a:cs typeface="Adobe Clean SemiCondensed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33216" y="3798979"/>
            <a:ext cx="4620260" cy="605154"/>
          </a:xfrm>
          <a:custGeom>
            <a:avLst/>
            <a:gdLst/>
            <a:ahLst/>
            <a:cxnLst/>
            <a:rect l="l" t="t" r="r" b="b"/>
            <a:pathLst>
              <a:path w="4620260" h="605154">
                <a:moveTo>
                  <a:pt x="2382240" y="0"/>
                </a:moveTo>
                <a:lnTo>
                  <a:pt x="2237867" y="0"/>
                </a:lnTo>
                <a:lnTo>
                  <a:pt x="2310053" y="72186"/>
                </a:lnTo>
                <a:lnTo>
                  <a:pt x="2382240" y="0"/>
                </a:lnTo>
                <a:close/>
              </a:path>
              <a:path w="4620260" h="605154">
                <a:moveTo>
                  <a:pt x="4620120" y="211823"/>
                </a:moveTo>
                <a:lnTo>
                  <a:pt x="4605325" y="172516"/>
                </a:lnTo>
                <a:lnTo>
                  <a:pt x="4571174" y="148056"/>
                </a:lnTo>
                <a:lnTo>
                  <a:pt x="4552670" y="144373"/>
                </a:lnTo>
                <a:lnTo>
                  <a:pt x="67449" y="144373"/>
                </a:lnTo>
                <a:lnTo>
                  <a:pt x="28130" y="159181"/>
                </a:lnTo>
                <a:lnTo>
                  <a:pt x="3670" y="193319"/>
                </a:lnTo>
                <a:lnTo>
                  <a:pt x="0" y="211823"/>
                </a:lnTo>
                <a:lnTo>
                  <a:pt x="0" y="532396"/>
                </a:lnTo>
                <a:lnTo>
                  <a:pt x="0" y="537133"/>
                </a:lnTo>
                <a:lnTo>
                  <a:pt x="14795" y="576440"/>
                </a:lnTo>
                <a:lnTo>
                  <a:pt x="48933" y="600900"/>
                </a:lnTo>
                <a:lnTo>
                  <a:pt x="67449" y="604583"/>
                </a:lnTo>
                <a:lnTo>
                  <a:pt x="4552670" y="604583"/>
                </a:lnTo>
                <a:lnTo>
                  <a:pt x="4591977" y="589788"/>
                </a:lnTo>
                <a:lnTo>
                  <a:pt x="4616437" y="555650"/>
                </a:lnTo>
                <a:lnTo>
                  <a:pt x="4620120" y="537133"/>
                </a:lnTo>
                <a:lnTo>
                  <a:pt x="4620120" y="211823"/>
                </a:lnTo>
                <a:close/>
              </a:path>
            </a:pathLst>
          </a:custGeom>
          <a:solidFill>
            <a:srgbClr val="DFE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13691" y="4066007"/>
            <a:ext cx="1059180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050" b="1" spc="18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Dropout</a:t>
            </a:r>
            <a:r>
              <a:rPr sz="1050" b="1" spc="146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41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(0.2)</a:t>
            </a:r>
            <a:endParaRPr sz="1050">
              <a:latin typeface="Adobe Clean SemiCondensed"/>
              <a:cs typeface="Adobe Clean SemiCondensed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971089" y="1238773"/>
            <a:ext cx="8253730" cy="5290185"/>
            <a:chOff x="2941721" y="1238771"/>
            <a:chExt cx="8253730" cy="5290185"/>
          </a:xfrm>
        </p:grpSpPr>
        <p:sp>
          <p:nvSpPr>
            <p:cNvPr id="21" name="object 21"/>
            <p:cNvSpPr/>
            <p:nvPr/>
          </p:nvSpPr>
          <p:spPr>
            <a:xfrm>
              <a:off x="2941721" y="4403557"/>
              <a:ext cx="144780" cy="72390"/>
            </a:xfrm>
            <a:custGeom>
              <a:avLst/>
              <a:gdLst/>
              <a:ahLst/>
              <a:cxnLst/>
              <a:rect l="l" t="t" r="r" b="b"/>
              <a:pathLst>
                <a:path w="144780" h="72389">
                  <a:moveTo>
                    <a:pt x="72189" y="72189"/>
                  </a:moveTo>
                  <a:lnTo>
                    <a:pt x="0" y="0"/>
                  </a:lnTo>
                  <a:lnTo>
                    <a:pt x="144378" y="0"/>
                  </a:lnTo>
                  <a:lnTo>
                    <a:pt x="72189" y="72189"/>
                  </a:lnTo>
                  <a:close/>
                </a:path>
              </a:pathLst>
            </a:custGeom>
            <a:solidFill>
              <a:srgbClr val="DF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79110" y="1238771"/>
              <a:ext cx="5316032" cy="5290043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188871" y="1503279"/>
            <a:ext cx="2571114" cy="2308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1">
              <a:spcBef>
                <a:spcPts val="119"/>
              </a:spcBef>
            </a:pPr>
            <a:r>
              <a:rPr sz="1400" spc="235" dirty="0">
                <a:solidFill>
                  <a:srgbClr val="3B81F5"/>
                </a:solidFill>
                <a:latin typeface="Segoe UI Symbol"/>
                <a:cs typeface="Segoe UI Symbol"/>
              </a:rPr>
              <a:t>⚙</a:t>
            </a:r>
            <a:r>
              <a:rPr sz="1400" spc="325" dirty="0">
                <a:solidFill>
                  <a:srgbClr val="3B81F5"/>
                </a:solidFill>
                <a:latin typeface="Segoe UI Symbol"/>
                <a:cs typeface="Segoe UI Symbol"/>
              </a:rPr>
              <a:t> </a:t>
            </a:r>
            <a:r>
              <a:rPr sz="1400" b="1" spc="21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Training</a:t>
            </a:r>
            <a:r>
              <a:rPr sz="1400" b="1" spc="19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400" b="1" spc="23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Conﬁguration</a:t>
            </a:r>
            <a:endParaRPr sz="1400">
              <a:latin typeface="Adobe Clean SemiCondensed"/>
              <a:cs typeface="Adobe Clean SemiCondensed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79104" y="1999582"/>
            <a:ext cx="773431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050" b="1" spc="165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Optimizer</a:t>
            </a:r>
            <a:endParaRPr sz="1050">
              <a:latin typeface="Adobe Clean SemiCondensed"/>
              <a:cs typeface="Adobe Clean SemiCondensed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92918" y="1999582"/>
            <a:ext cx="459741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050" b="1" spc="18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Adam</a:t>
            </a:r>
            <a:endParaRPr sz="1050">
              <a:latin typeface="Adobe Clean SemiCondensed"/>
              <a:cs typeface="Adobe Clean SemiCondensed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79105" y="2495885"/>
            <a:ext cx="1097280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050" b="1" spc="180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Learning</a:t>
            </a:r>
            <a:r>
              <a:rPr sz="1050" b="1" spc="150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75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Rate</a:t>
            </a:r>
            <a:endParaRPr sz="1050">
              <a:latin typeface="Adobe Clean SemiCondensed"/>
              <a:cs typeface="Adobe Clean SemiCondensed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304657" y="2495885"/>
            <a:ext cx="548004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050" b="1" spc="17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0.0001</a:t>
            </a:r>
            <a:endParaRPr sz="1050">
              <a:latin typeface="Adobe Clean SemiCondensed"/>
              <a:cs typeface="Adobe Clean SemiCondensed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79107" y="2983163"/>
            <a:ext cx="1072515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050" b="1" spc="190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Loss</a:t>
            </a:r>
            <a:r>
              <a:rPr sz="1050" b="1" spc="155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65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Function</a:t>
            </a:r>
            <a:endParaRPr sz="1050">
              <a:latin typeface="Adobe Clean SemiCondensed"/>
              <a:cs typeface="Adobe Clean SemiCondensed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836900" y="2983163"/>
            <a:ext cx="2015489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050" b="1" spc="17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Categorical</a:t>
            </a:r>
            <a:r>
              <a:rPr sz="1050" b="1" spc="18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7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Cross-</a:t>
            </a:r>
            <a:r>
              <a:rPr sz="1050" b="1" spc="17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Entropy</a:t>
            </a:r>
            <a:endParaRPr sz="1050">
              <a:latin typeface="Adobe Clean SemiCondensed"/>
              <a:cs typeface="Adobe Clean SemiCondensed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79104" y="3479466"/>
            <a:ext cx="822961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050" b="1" spc="195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Batch</a:t>
            </a:r>
            <a:r>
              <a:rPr sz="1050" b="1" spc="141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65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Size</a:t>
            </a:r>
            <a:endParaRPr sz="1050">
              <a:latin typeface="Adobe Clean SemiCondensed"/>
              <a:cs typeface="Adobe Clean SemiCondensed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638674" y="3479466"/>
            <a:ext cx="213996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050" b="1" spc="146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20</a:t>
            </a:r>
            <a:endParaRPr sz="1050">
              <a:latin typeface="Adobe Clean SemiCondensed"/>
              <a:cs typeface="Adobe Clean SemiCondensed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79105" y="3966746"/>
            <a:ext cx="565150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050" b="1" spc="180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Epochs</a:t>
            </a:r>
            <a:endParaRPr sz="1050">
              <a:latin typeface="Adobe Clean SemiCondensed"/>
              <a:cs typeface="Adobe Clean SemiCondensed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638674" y="3966746"/>
            <a:ext cx="213996" cy="1763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spcBef>
                <a:spcPts val="114"/>
              </a:spcBef>
            </a:pPr>
            <a:r>
              <a:rPr sz="1050" b="1" spc="146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20</a:t>
            </a:r>
            <a:endParaRPr sz="1050">
              <a:latin typeface="Adobe Clean SemiCondensed"/>
              <a:cs typeface="Adobe Clean SemiCondensed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88870" y="4887161"/>
            <a:ext cx="2475865" cy="2308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1">
              <a:spcBef>
                <a:spcPts val="119"/>
              </a:spcBef>
            </a:pPr>
            <a:r>
              <a:rPr sz="1400" spc="795" dirty="0">
                <a:solidFill>
                  <a:srgbClr val="0FB981"/>
                </a:solidFill>
                <a:latin typeface="Segoe UI Symbol"/>
                <a:cs typeface="Segoe UI Symbol"/>
              </a:rPr>
              <a:t></a:t>
            </a:r>
            <a:r>
              <a:rPr sz="1400" spc="345" dirty="0">
                <a:solidFill>
                  <a:srgbClr val="0FB981"/>
                </a:solidFill>
                <a:latin typeface="Segoe UI Symbol"/>
                <a:cs typeface="Segoe UI Symbol"/>
              </a:rPr>
              <a:t> </a:t>
            </a:r>
            <a:r>
              <a:rPr sz="1400" b="1" spc="23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Classiﬁcation</a:t>
            </a:r>
            <a:r>
              <a:rPr sz="1400" b="1" spc="204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400" b="1" spc="141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Classes</a:t>
            </a:r>
            <a:endParaRPr sz="1400">
              <a:latin typeface="Adobe Clean SemiCondensed"/>
              <a:cs typeface="Adobe Clean SemiCondensed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19436" y="5401512"/>
            <a:ext cx="51943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1">
              <a:spcBef>
                <a:spcPts val="95"/>
              </a:spcBef>
            </a:pPr>
            <a:r>
              <a:rPr sz="1000" b="1" spc="136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Glioma</a:t>
            </a:r>
            <a:endParaRPr sz="1000">
              <a:latin typeface="Adobe Clean SemiCondensed"/>
              <a:cs typeface="Adobe Clean SemiCondensed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339686" y="5401512"/>
            <a:ext cx="89789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1">
              <a:spcBef>
                <a:spcPts val="95"/>
              </a:spcBef>
            </a:pPr>
            <a:r>
              <a:rPr sz="1000" b="1" spc="15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Meningioma</a:t>
            </a:r>
            <a:endParaRPr sz="1000">
              <a:latin typeface="Adobe Clean SemiCondensed"/>
              <a:cs typeface="Adobe Clean SemiCondensed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56554" y="5897813"/>
            <a:ext cx="64579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1">
              <a:spcBef>
                <a:spcPts val="95"/>
              </a:spcBef>
            </a:pPr>
            <a:r>
              <a:rPr sz="1000" b="1" spc="141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Pituitary</a:t>
            </a:r>
            <a:endParaRPr sz="1000">
              <a:latin typeface="Adobe Clean SemiCondensed"/>
              <a:cs typeface="Adobe Clean SemiCondensed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435986" y="5897813"/>
            <a:ext cx="705486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1">
              <a:spcBef>
                <a:spcPts val="95"/>
              </a:spcBef>
            </a:pPr>
            <a:r>
              <a:rPr sz="1000" b="1" spc="16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No</a:t>
            </a:r>
            <a:r>
              <a:rPr sz="1000" b="1" spc="126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000" b="1" spc="131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Tumor</a:t>
            </a:r>
            <a:endParaRPr sz="1000">
              <a:latin typeface="Adobe Clean SemiCondensed"/>
              <a:cs typeface="Adobe Clean Semi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69" y="0"/>
            <a:ext cx="12192000" cy="9182100"/>
          </a:xfrm>
          <a:custGeom>
            <a:avLst/>
            <a:gdLst/>
            <a:ahLst/>
            <a:cxnLst/>
            <a:rect l="l" t="t" r="r" b="b"/>
            <a:pathLst>
              <a:path w="12192000" h="9182100">
                <a:moveTo>
                  <a:pt x="12191999" y="9182099"/>
                </a:moveTo>
                <a:lnTo>
                  <a:pt x="0" y="9182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182099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6568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1833" y="406401"/>
            <a:ext cx="6679775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7">
              <a:spcBef>
                <a:spcPts val="99"/>
              </a:spcBef>
            </a:pPr>
            <a:r>
              <a:rPr spc="409" dirty="0"/>
              <a:t>Model</a:t>
            </a:r>
            <a:r>
              <a:rPr spc="371" dirty="0"/>
              <a:t> </a:t>
            </a:r>
            <a:r>
              <a:rPr spc="420" dirty="0"/>
              <a:t>Evaluation</a:t>
            </a:r>
            <a:r>
              <a:rPr spc="376" dirty="0"/>
              <a:t> </a:t>
            </a:r>
            <a:r>
              <a:rPr spc="465" dirty="0"/>
              <a:t>&amp;</a:t>
            </a:r>
            <a:r>
              <a:rPr spc="371" dirty="0"/>
              <a:t> </a:t>
            </a:r>
            <a:r>
              <a:rPr spc="455" dirty="0"/>
              <a:t>Results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312834" y="1219199"/>
            <a:ext cx="5870575" cy="3886201"/>
            <a:chOff x="283463" y="1219200"/>
            <a:chExt cx="5870575" cy="3886200"/>
          </a:xfrm>
        </p:grpSpPr>
        <p:sp>
          <p:nvSpPr>
            <p:cNvPr id="6" name="object 6"/>
            <p:cNvSpPr/>
            <p:nvPr/>
          </p:nvSpPr>
          <p:spPr>
            <a:xfrm>
              <a:off x="283451" y="1219212"/>
              <a:ext cx="5870575" cy="3886200"/>
            </a:xfrm>
            <a:custGeom>
              <a:avLst/>
              <a:gdLst/>
              <a:ahLst/>
              <a:cxnLst/>
              <a:rect l="l" t="t" r="r" b="b"/>
              <a:pathLst>
                <a:path w="5870575" h="3886200">
                  <a:moveTo>
                    <a:pt x="5870448" y="0"/>
                  </a:moveTo>
                  <a:lnTo>
                    <a:pt x="5688711" y="0"/>
                  </a:lnTo>
                  <a:lnTo>
                    <a:pt x="5688711" y="152400"/>
                  </a:lnTo>
                  <a:lnTo>
                    <a:pt x="5688711" y="3543300"/>
                  </a:lnTo>
                  <a:lnTo>
                    <a:pt x="5677484" y="3580346"/>
                  </a:lnTo>
                  <a:lnTo>
                    <a:pt x="5647550" y="3604895"/>
                  </a:lnTo>
                  <a:lnTo>
                    <a:pt x="5622036" y="3609975"/>
                  </a:lnTo>
                  <a:lnTo>
                    <a:pt x="249936" y="3609975"/>
                  </a:lnTo>
                  <a:lnTo>
                    <a:pt x="212890" y="3598748"/>
                  </a:lnTo>
                  <a:lnTo>
                    <a:pt x="188341" y="3568814"/>
                  </a:lnTo>
                  <a:lnTo>
                    <a:pt x="183261" y="3543300"/>
                  </a:lnTo>
                  <a:lnTo>
                    <a:pt x="183261" y="152400"/>
                  </a:lnTo>
                  <a:lnTo>
                    <a:pt x="194487" y="115341"/>
                  </a:lnTo>
                  <a:lnTo>
                    <a:pt x="224421" y="90792"/>
                  </a:lnTo>
                  <a:lnTo>
                    <a:pt x="249936" y="85725"/>
                  </a:lnTo>
                  <a:lnTo>
                    <a:pt x="5622036" y="85725"/>
                  </a:lnTo>
                  <a:lnTo>
                    <a:pt x="5659094" y="96939"/>
                  </a:lnTo>
                  <a:lnTo>
                    <a:pt x="5683643" y="126873"/>
                  </a:lnTo>
                  <a:lnTo>
                    <a:pt x="5688711" y="152400"/>
                  </a:lnTo>
                  <a:lnTo>
                    <a:pt x="5688711" y="0"/>
                  </a:lnTo>
                  <a:lnTo>
                    <a:pt x="0" y="0"/>
                  </a:lnTo>
                  <a:lnTo>
                    <a:pt x="0" y="3886200"/>
                  </a:lnTo>
                  <a:lnTo>
                    <a:pt x="5870448" y="3886200"/>
                  </a:lnTo>
                  <a:lnTo>
                    <a:pt x="5870448" y="3609975"/>
                  </a:lnTo>
                  <a:lnTo>
                    <a:pt x="5870448" y="85725"/>
                  </a:lnTo>
                  <a:lnTo>
                    <a:pt x="5870448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199" y="1295399"/>
              <a:ext cx="5524500" cy="3543300"/>
            </a:xfrm>
            <a:custGeom>
              <a:avLst/>
              <a:gdLst/>
              <a:ahLst/>
              <a:cxnLst/>
              <a:rect l="l" t="t" r="r" b="b"/>
              <a:pathLst>
                <a:path w="5524500" h="3543300">
                  <a:moveTo>
                    <a:pt x="5453302" y="3543299"/>
                  </a:moveTo>
                  <a:lnTo>
                    <a:pt x="71196" y="3543299"/>
                  </a:lnTo>
                  <a:lnTo>
                    <a:pt x="66241" y="3542811"/>
                  </a:lnTo>
                  <a:lnTo>
                    <a:pt x="29705" y="3527677"/>
                  </a:lnTo>
                  <a:lnTo>
                    <a:pt x="3885" y="3491637"/>
                  </a:lnTo>
                  <a:lnTo>
                    <a:pt x="0" y="3472102"/>
                  </a:lnTo>
                  <a:lnTo>
                    <a:pt x="0" y="34670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5453302" y="0"/>
                  </a:lnTo>
                  <a:lnTo>
                    <a:pt x="5494792" y="15621"/>
                  </a:lnTo>
                  <a:lnTo>
                    <a:pt x="5520613" y="51662"/>
                  </a:lnTo>
                  <a:lnTo>
                    <a:pt x="5524499" y="71196"/>
                  </a:lnTo>
                  <a:lnTo>
                    <a:pt x="5524499" y="3472102"/>
                  </a:lnTo>
                  <a:lnTo>
                    <a:pt x="5508877" y="3513593"/>
                  </a:lnTo>
                  <a:lnTo>
                    <a:pt x="5472836" y="3539413"/>
                  </a:lnTo>
                  <a:lnTo>
                    <a:pt x="5458257" y="3542811"/>
                  </a:lnTo>
                  <a:lnTo>
                    <a:pt x="5453302" y="3543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469" y="1520826"/>
            <a:ext cx="2518411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500" spc="825" dirty="0">
                <a:solidFill>
                  <a:srgbClr val="3B81F5"/>
                </a:solidFill>
                <a:latin typeface="Segoe UI Symbol"/>
                <a:cs typeface="Segoe UI Symbol"/>
              </a:rPr>
              <a:t></a:t>
            </a:r>
            <a:r>
              <a:rPr sz="1500" spc="204" dirty="0">
                <a:solidFill>
                  <a:srgbClr val="3B81F5"/>
                </a:solidFill>
                <a:latin typeface="Segoe UI Symbol"/>
                <a:cs typeface="Segoe UI Symbol"/>
              </a:rPr>
              <a:t> </a:t>
            </a:r>
            <a:r>
              <a:rPr sz="1500" b="1" spc="24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Classiﬁcation</a:t>
            </a:r>
            <a:r>
              <a:rPr sz="1500" b="1" spc="21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500" b="1" spc="9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Report</a:t>
            </a:r>
            <a:endParaRPr sz="1500">
              <a:latin typeface="Adobe Clean SemiCondensed"/>
              <a:cs typeface="Adobe Clean SemiCondense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15170" y="1943101"/>
          <a:ext cx="5069202" cy="21685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1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3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266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00" b="1" spc="165" dirty="0">
                          <a:solidFill>
                            <a:srgbClr val="FFFFFF"/>
                          </a:solidFill>
                          <a:latin typeface="Adobe Clean SemiCondensed"/>
                          <a:cs typeface="Adobe Clean SemiCondensed"/>
                        </a:rPr>
                        <a:t>Class</a:t>
                      </a:r>
                      <a:endParaRPr sz="1000">
                        <a:latin typeface="Adobe Clean SemiCondensed"/>
                        <a:cs typeface="Adobe Clean SemiCondensed"/>
                      </a:endParaRPr>
                    </a:p>
                  </a:txBody>
                  <a:tcPr marL="0" marR="0" marT="85726" marB="0">
                    <a:solidFill>
                      <a:srgbClr val="1D3A8A"/>
                    </a:solidFill>
                  </a:tcPr>
                </a:tc>
                <a:tc>
                  <a:txBody>
                    <a:bodyPr/>
                    <a:lstStyle/>
                    <a:p>
                      <a:pPr marL="21971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00" b="1" spc="155" dirty="0">
                          <a:solidFill>
                            <a:srgbClr val="FFFFFF"/>
                          </a:solidFill>
                          <a:latin typeface="Adobe Clean SemiCondensed"/>
                          <a:cs typeface="Adobe Clean SemiCondensed"/>
                        </a:rPr>
                        <a:t>Precision</a:t>
                      </a:r>
                      <a:endParaRPr sz="1000">
                        <a:latin typeface="Adobe Clean SemiCondensed"/>
                        <a:cs typeface="Adobe Clean SemiCondensed"/>
                      </a:endParaRPr>
                    </a:p>
                  </a:txBody>
                  <a:tcPr marL="0" marR="0" marT="85726" marB="0">
                    <a:solidFill>
                      <a:srgbClr val="1D3A8A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00" b="1" spc="140" dirty="0">
                          <a:solidFill>
                            <a:srgbClr val="FFFFFF"/>
                          </a:solidFill>
                          <a:latin typeface="Adobe Clean SemiCondensed"/>
                          <a:cs typeface="Adobe Clean SemiCondensed"/>
                        </a:rPr>
                        <a:t>Recall</a:t>
                      </a:r>
                      <a:endParaRPr sz="1000">
                        <a:latin typeface="Adobe Clean SemiCondensed"/>
                        <a:cs typeface="Adobe Clean SemiCondensed"/>
                      </a:endParaRPr>
                    </a:p>
                  </a:txBody>
                  <a:tcPr marL="0" marR="0" marT="85726" marB="0">
                    <a:solidFill>
                      <a:srgbClr val="1D3A8A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00" b="1" spc="175" dirty="0">
                          <a:solidFill>
                            <a:srgbClr val="FFFFFF"/>
                          </a:solidFill>
                          <a:latin typeface="Adobe Clean SemiCondensed"/>
                          <a:cs typeface="Adobe Clean SemiCondensed"/>
                        </a:rPr>
                        <a:t>F1-</a:t>
                      </a:r>
                      <a:r>
                        <a:rPr sz="1000" b="1" spc="200" dirty="0">
                          <a:solidFill>
                            <a:srgbClr val="FFFFFF"/>
                          </a:solidFill>
                          <a:latin typeface="Adobe Clean SemiCondensed"/>
                          <a:cs typeface="Adobe Clean SemiCondensed"/>
                        </a:rPr>
                        <a:t>Score</a:t>
                      </a:r>
                      <a:endParaRPr sz="1000">
                        <a:latin typeface="Adobe Clean SemiCondensed"/>
                        <a:cs typeface="Adobe Clean SemiCondensed"/>
                      </a:endParaRPr>
                    </a:p>
                  </a:txBody>
                  <a:tcPr marL="0" marR="0" marT="85726" marB="0">
                    <a:solidFill>
                      <a:srgbClr val="1D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00" b="1" spc="155" dirty="0">
                          <a:latin typeface="Adobe Clean SemiCondensed"/>
                          <a:cs typeface="Adobe Clean SemiCondensed"/>
                        </a:rPr>
                        <a:t>Pituitary</a:t>
                      </a:r>
                      <a:endParaRPr sz="1000">
                        <a:latin typeface="Adobe Clean SemiCondensed"/>
                        <a:cs typeface="Adobe Clean SemiCondensed"/>
                      </a:endParaRPr>
                    </a:p>
                  </a:txBody>
                  <a:tcPr marL="0" marR="0" marT="85726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00" spc="50" dirty="0">
                          <a:latin typeface="Trebuchet MS"/>
                          <a:cs typeface="Trebuchet MS"/>
                        </a:rPr>
                        <a:t>0.89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85726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00" spc="50" dirty="0">
                          <a:latin typeface="Trebuchet MS"/>
                          <a:cs typeface="Trebuchet MS"/>
                        </a:rPr>
                        <a:t>0.96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85726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00" spc="50" dirty="0">
                          <a:latin typeface="Trebuchet MS"/>
                          <a:cs typeface="Trebuchet MS"/>
                        </a:rPr>
                        <a:t>0.92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85726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000" b="1" spc="160" dirty="0">
                          <a:latin typeface="Adobe Clean SemiCondensed"/>
                          <a:cs typeface="Adobe Clean SemiCondensed"/>
                        </a:rPr>
                        <a:t>No</a:t>
                      </a:r>
                      <a:r>
                        <a:rPr sz="1000" b="1" spc="140" dirty="0">
                          <a:latin typeface="Adobe Clean SemiCondensed"/>
                          <a:cs typeface="Adobe Clean SemiCondensed"/>
                        </a:rPr>
                        <a:t> Tumor</a:t>
                      </a:r>
                      <a:endParaRPr sz="1000">
                        <a:latin typeface="Adobe Clean SemiCondensed"/>
                        <a:cs typeface="Adobe Clean SemiCondensed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000" spc="50" dirty="0">
                          <a:latin typeface="Trebuchet MS"/>
                          <a:cs typeface="Trebuchet MS"/>
                        </a:rPr>
                        <a:t>0.93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000" spc="50" dirty="0">
                          <a:latin typeface="Trebuchet MS"/>
                          <a:cs typeface="Trebuchet MS"/>
                        </a:rPr>
                        <a:t>0.89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000" spc="50" dirty="0">
                          <a:latin typeface="Trebuchet MS"/>
                          <a:cs typeface="Trebuchet MS"/>
                        </a:rPr>
                        <a:t>0.91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000" b="1" spc="160" dirty="0">
                          <a:latin typeface="Adobe Clean SemiCondensed"/>
                          <a:cs typeface="Adobe Clean SemiCondensed"/>
                        </a:rPr>
                        <a:t>Meningioma</a:t>
                      </a:r>
                      <a:endParaRPr sz="1000">
                        <a:latin typeface="Adobe Clean SemiCondensed"/>
                        <a:cs typeface="Adobe Clean SemiCondensed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000" spc="50" dirty="0">
                          <a:latin typeface="Trebuchet MS"/>
                          <a:cs typeface="Trebuchet MS"/>
                        </a:rPr>
                        <a:t>0.85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000" spc="50" dirty="0">
                          <a:latin typeface="Trebuchet MS"/>
                          <a:cs typeface="Trebuchet MS"/>
                        </a:rPr>
                        <a:t>0.86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000" spc="50" dirty="0">
                          <a:latin typeface="Trebuchet MS"/>
                          <a:cs typeface="Trebuchet MS"/>
                        </a:rPr>
                        <a:t>0.85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000" b="1" spc="145" dirty="0">
                          <a:latin typeface="Adobe Clean SemiCondensed"/>
                          <a:cs typeface="Adobe Clean SemiCondensed"/>
                        </a:rPr>
                        <a:t>Glioma</a:t>
                      </a:r>
                      <a:endParaRPr sz="1000">
                        <a:latin typeface="Adobe Clean SemiCondensed"/>
                        <a:cs typeface="Adobe Clean SemiCondensed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000" spc="50" dirty="0">
                          <a:latin typeface="Trebuchet MS"/>
                          <a:cs typeface="Trebuchet MS"/>
                        </a:rPr>
                        <a:t>0.86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000" spc="50" dirty="0">
                          <a:latin typeface="Trebuchet MS"/>
                          <a:cs typeface="Trebuchet MS"/>
                        </a:rPr>
                        <a:t>0.79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000" spc="50" dirty="0">
                          <a:latin typeface="Trebuchet MS"/>
                          <a:cs typeface="Trebuchet MS"/>
                        </a:rPr>
                        <a:t>0.82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5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000" b="1" spc="150" dirty="0">
                          <a:latin typeface="Adobe Clean SemiCondensed"/>
                          <a:cs typeface="Adobe Clean SemiCondensed"/>
                        </a:rPr>
                        <a:t>Overall</a:t>
                      </a:r>
                      <a:r>
                        <a:rPr sz="1000" b="1" spc="155" dirty="0">
                          <a:latin typeface="Adobe Clean SemiCondensed"/>
                          <a:cs typeface="Adobe Clean SemiCondensed"/>
                        </a:rPr>
                        <a:t> </a:t>
                      </a:r>
                      <a:r>
                        <a:rPr sz="1000" b="1" spc="165" dirty="0">
                          <a:latin typeface="Adobe Clean SemiCondensed"/>
                          <a:cs typeface="Adobe Clean SemiCondensed"/>
                        </a:rPr>
                        <a:t>Accuracy</a:t>
                      </a:r>
                      <a:endParaRPr sz="1000">
                        <a:latin typeface="Adobe Clean SemiCondensed"/>
                        <a:cs typeface="Adobe Clean SemiCondensed"/>
                      </a:endParaRPr>
                    </a:p>
                  </a:txBody>
                  <a:tcPr marL="0" marR="0" marT="128270" marB="0">
                    <a:lnT w="9525">
                      <a:solidFill>
                        <a:srgbClr val="E2E7F0"/>
                      </a:solidFill>
                      <a:prstDash val="solid"/>
                    </a:lnT>
                    <a:solidFill>
                      <a:srgbClr val="0FB981">
                        <a:alpha val="1254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2E7F0"/>
                      </a:solidFill>
                      <a:prstDash val="solid"/>
                    </a:lnT>
                    <a:solidFill>
                      <a:srgbClr val="0FB981">
                        <a:alpha val="1254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b="1" spc="185" dirty="0">
                          <a:solidFill>
                            <a:srgbClr val="0FB981"/>
                          </a:solidFill>
                          <a:latin typeface="Adobe Clean SemiCondensed"/>
                          <a:cs typeface="Adobe Clean SemiCondensed"/>
                        </a:rPr>
                        <a:t>88%</a:t>
                      </a:r>
                      <a:endParaRPr sz="1500">
                        <a:latin typeface="Adobe Clean SemiCondensed"/>
                        <a:cs typeface="Adobe Clean SemiCondensed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solidFill>
                      <a:srgbClr val="0FB981">
                        <a:alpha val="1254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2E7F0"/>
                      </a:solidFill>
                      <a:prstDash val="solid"/>
                    </a:lnT>
                    <a:solidFill>
                      <a:srgbClr val="0FB981">
                        <a:alpha val="1254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6067459" y="1219199"/>
            <a:ext cx="5870575" cy="3886201"/>
            <a:chOff x="6038087" y="1219200"/>
            <a:chExt cx="5870575" cy="3886200"/>
          </a:xfrm>
        </p:grpSpPr>
        <p:sp>
          <p:nvSpPr>
            <p:cNvPr id="11" name="object 11"/>
            <p:cNvSpPr/>
            <p:nvPr/>
          </p:nvSpPr>
          <p:spPr>
            <a:xfrm>
              <a:off x="6038075" y="1219212"/>
              <a:ext cx="5870575" cy="3886200"/>
            </a:xfrm>
            <a:custGeom>
              <a:avLst/>
              <a:gdLst/>
              <a:ahLst/>
              <a:cxnLst/>
              <a:rect l="l" t="t" r="r" b="b"/>
              <a:pathLst>
                <a:path w="5870575" h="3886200">
                  <a:moveTo>
                    <a:pt x="5870448" y="0"/>
                  </a:moveTo>
                  <a:lnTo>
                    <a:pt x="5687187" y="0"/>
                  </a:lnTo>
                  <a:lnTo>
                    <a:pt x="5687187" y="152400"/>
                  </a:lnTo>
                  <a:lnTo>
                    <a:pt x="5687187" y="3543300"/>
                  </a:lnTo>
                  <a:lnTo>
                    <a:pt x="5675960" y="3580346"/>
                  </a:lnTo>
                  <a:lnTo>
                    <a:pt x="5646026" y="3604895"/>
                  </a:lnTo>
                  <a:lnTo>
                    <a:pt x="5620512" y="3609975"/>
                  </a:lnTo>
                  <a:lnTo>
                    <a:pt x="248412" y="3609975"/>
                  </a:lnTo>
                  <a:lnTo>
                    <a:pt x="211366" y="3598748"/>
                  </a:lnTo>
                  <a:lnTo>
                    <a:pt x="186817" y="3568814"/>
                  </a:lnTo>
                  <a:lnTo>
                    <a:pt x="181737" y="3543300"/>
                  </a:lnTo>
                  <a:lnTo>
                    <a:pt x="181737" y="152400"/>
                  </a:lnTo>
                  <a:lnTo>
                    <a:pt x="192963" y="115341"/>
                  </a:lnTo>
                  <a:lnTo>
                    <a:pt x="222897" y="90792"/>
                  </a:lnTo>
                  <a:lnTo>
                    <a:pt x="248412" y="85725"/>
                  </a:lnTo>
                  <a:lnTo>
                    <a:pt x="5620512" y="85725"/>
                  </a:lnTo>
                  <a:lnTo>
                    <a:pt x="5657570" y="96939"/>
                  </a:lnTo>
                  <a:lnTo>
                    <a:pt x="5682119" y="126873"/>
                  </a:lnTo>
                  <a:lnTo>
                    <a:pt x="5687187" y="152400"/>
                  </a:lnTo>
                  <a:lnTo>
                    <a:pt x="5687187" y="0"/>
                  </a:lnTo>
                  <a:lnTo>
                    <a:pt x="0" y="0"/>
                  </a:lnTo>
                  <a:lnTo>
                    <a:pt x="0" y="3886200"/>
                  </a:lnTo>
                  <a:lnTo>
                    <a:pt x="5870448" y="3886200"/>
                  </a:lnTo>
                  <a:lnTo>
                    <a:pt x="5870448" y="3609975"/>
                  </a:lnTo>
                  <a:lnTo>
                    <a:pt x="5870448" y="85725"/>
                  </a:lnTo>
                  <a:lnTo>
                    <a:pt x="5870448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10299" y="1295399"/>
              <a:ext cx="5524500" cy="3543300"/>
            </a:xfrm>
            <a:custGeom>
              <a:avLst/>
              <a:gdLst/>
              <a:ahLst/>
              <a:cxnLst/>
              <a:rect l="l" t="t" r="r" b="b"/>
              <a:pathLst>
                <a:path w="5524500" h="3543300">
                  <a:moveTo>
                    <a:pt x="5453302" y="3543299"/>
                  </a:moveTo>
                  <a:lnTo>
                    <a:pt x="71196" y="3543299"/>
                  </a:lnTo>
                  <a:lnTo>
                    <a:pt x="66241" y="3542811"/>
                  </a:lnTo>
                  <a:lnTo>
                    <a:pt x="29705" y="3527677"/>
                  </a:lnTo>
                  <a:lnTo>
                    <a:pt x="3885" y="3491637"/>
                  </a:lnTo>
                  <a:lnTo>
                    <a:pt x="0" y="3472102"/>
                  </a:lnTo>
                  <a:lnTo>
                    <a:pt x="0" y="34670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5453302" y="0"/>
                  </a:lnTo>
                  <a:lnTo>
                    <a:pt x="5494792" y="15621"/>
                  </a:lnTo>
                  <a:lnTo>
                    <a:pt x="5520613" y="51662"/>
                  </a:lnTo>
                  <a:lnTo>
                    <a:pt x="5524499" y="71196"/>
                  </a:lnTo>
                  <a:lnTo>
                    <a:pt x="5524499" y="3472102"/>
                  </a:lnTo>
                  <a:lnTo>
                    <a:pt x="5508877" y="3513593"/>
                  </a:lnTo>
                  <a:lnTo>
                    <a:pt x="5472836" y="3539413"/>
                  </a:lnTo>
                  <a:lnTo>
                    <a:pt x="5458257" y="3542811"/>
                  </a:lnTo>
                  <a:lnTo>
                    <a:pt x="5453302" y="3543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455570" y="1520826"/>
            <a:ext cx="212026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500" spc="825" dirty="0">
                <a:solidFill>
                  <a:srgbClr val="3B81F5"/>
                </a:solidFill>
                <a:latin typeface="Segoe UI Symbol"/>
                <a:cs typeface="Segoe UI Symbol"/>
              </a:rPr>
              <a:t></a:t>
            </a:r>
            <a:r>
              <a:rPr sz="1500" spc="190" dirty="0">
                <a:solidFill>
                  <a:srgbClr val="3B81F5"/>
                </a:solidFill>
                <a:latin typeface="Segoe UI Symbol"/>
                <a:cs typeface="Segoe UI Symbol"/>
              </a:rPr>
              <a:t> </a:t>
            </a:r>
            <a:r>
              <a:rPr sz="1500" b="1" spc="24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Confusion</a:t>
            </a:r>
            <a:r>
              <a:rPr sz="1500" b="1" spc="204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500" b="1" spc="9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Matrix</a:t>
            </a:r>
            <a:endParaRPr sz="1500">
              <a:latin typeface="Adobe Clean SemiCondensed"/>
              <a:cs typeface="Adobe Clean SemiCondensed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12831" y="1943099"/>
            <a:ext cx="11625580" cy="7048501"/>
            <a:chOff x="283463" y="1943100"/>
            <a:chExt cx="11625580" cy="704850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9499" y="1943100"/>
              <a:ext cx="3086099" cy="26669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83451" y="4989588"/>
              <a:ext cx="11625580" cy="4002404"/>
            </a:xfrm>
            <a:custGeom>
              <a:avLst/>
              <a:gdLst/>
              <a:ahLst/>
              <a:cxnLst/>
              <a:rect l="l" t="t" r="r" b="b"/>
              <a:pathLst>
                <a:path w="11625580" h="4002404">
                  <a:moveTo>
                    <a:pt x="11625072" y="0"/>
                  </a:moveTo>
                  <a:lnTo>
                    <a:pt x="11441811" y="0"/>
                  </a:lnTo>
                  <a:lnTo>
                    <a:pt x="11441811" y="153924"/>
                  </a:lnTo>
                  <a:lnTo>
                    <a:pt x="11441811" y="3659111"/>
                  </a:lnTo>
                  <a:lnTo>
                    <a:pt x="11430584" y="3696170"/>
                  </a:lnTo>
                  <a:lnTo>
                    <a:pt x="11400650" y="3720719"/>
                  </a:lnTo>
                  <a:lnTo>
                    <a:pt x="11375136" y="3725786"/>
                  </a:lnTo>
                  <a:lnTo>
                    <a:pt x="249936" y="3725786"/>
                  </a:lnTo>
                  <a:lnTo>
                    <a:pt x="212890" y="3714559"/>
                  </a:lnTo>
                  <a:lnTo>
                    <a:pt x="188341" y="3684625"/>
                  </a:lnTo>
                  <a:lnTo>
                    <a:pt x="183261" y="3659111"/>
                  </a:lnTo>
                  <a:lnTo>
                    <a:pt x="183261" y="153924"/>
                  </a:lnTo>
                  <a:lnTo>
                    <a:pt x="194487" y="116865"/>
                  </a:lnTo>
                  <a:lnTo>
                    <a:pt x="224421" y="92316"/>
                  </a:lnTo>
                  <a:lnTo>
                    <a:pt x="249936" y="87249"/>
                  </a:lnTo>
                  <a:lnTo>
                    <a:pt x="11375136" y="87249"/>
                  </a:lnTo>
                  <a:lnTo>
                    <a:pt x="11412195" y="98463"/>
                  </a:lnTo>
                  <a:lnTo>
                    <a:pt x="11436744" y="128397"/>
                  </a:lnTo>
                  <a:lnTo>
                    <a:pt x="11441811" y="153924"/>
                  </a:lnTo>
                  <a:lnTo>
                    <a:pt x="11441811" y="0"/>
                  </a:lnTo>
                  <a:lnTo>
                    <a:pt x="0" y="0"/>
                  </a:lnTo>
                  <a:lnTo>
                    <a:pt x="0" y="4002011"/>
                  </a:lnTo>
                  <a:lnTo>
                    <a:pt x="11625072" y="4002011"/>
                  </a:lnTo>
                  <a:lnTo>
                    <a:pt x="11625072" y="3725786"/>
                  </a:lnTo>
                  <a:lnTo>
                    <a:pt x="11625072" y="87249"/>
                  </a:lnTo>
                  <a:lnTo>
                    <a:pt x="11625072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199" y="5067299"/>
              <a:ext cx="11277600" cy="3657600"/>
            </a:xfrm>
            <a:custGeom>
              <a:avLst/>
              <a:gdLst/>
              <a:ahLst/>
              <a:cxnLst/>
              <a:rect l="l" t="t" r="r" b="b"/>
              <a:pathLst>
                <a:path w="11277600" h="3657600">
                  <a:moveTo>
                    <a:pt x="11206402" y="3657599"/>
                  </a:moveTo>
                  <a:lnTo>
                    <a:pt x="71196" y="3657599"/>
                  </a:lnTo>
                  <a:lnTo>
                    <a:pt x="66241" y="3657111"/>
                  </a:lnTo>
                  <a:lnTo>
                    <a:pt x="29705" y="3641977"/>
                  </a:lnTo>
                  <a:lnTo>
                    <a:pt x="3885" y="3605936"/>
                  </a:lnTo>
                  <a:lnTo>
                    <a:pt x="0" y="3586402"/>
                  </a:lnTo>
                  <a:lnTo>
                    <a:pt x="0" y="35813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206402" y="0"/>
                  </a:lnTo>
                  <a:lnTo>
                    <a:pt x="11247890" y="15621"/>
                  </a:lnTo>
                  <a:lnTo>
                    <a:pt x="11273712" y="51662"/>
                  </a:lnTo>
                  <a:lnTo>
                    <a:pt x="11277597" y="71196"/>
                  </a:lnTo>
                  <a:lnTo>
                    <a:pt x="11277597" y="3586402"/>
                  </a:lnTo>
                  <a:lnTo>
                    <a:pt x="11261975" y="3627893"/>
                  </a:lnTo>
                  <a:lnTo>
                    <a:pt x="11225935" y="3653713"/>
                  </a:lnTo>
                  <a:lnTo>
                    <a:pt x="11211356" y="3657111"/>
                  </a:lnTo>
                  <a:lnTo>
                    <a:pt x="11206402" y="3657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02469" y="5292724"/>
            <a:ext cx="41783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500" spc="825" dirty="0">
                <a:solidFill>
                  <a:srgbClr val="3B81F5"/>
                </a:solidFill>
                <a:latin typeface="Segoe UI Symbol"/>
                <a:cs typeface="Segoe UI Symbol"/>
              </a:rPr>
              <a:t></a:t>
            </a:r>
            <a:r>
              <a:rPr sz="1500" spc="195" dirty="0">
                <a:solidFill>
                  <a:srgbClr val="3B81F5"/>
                </a:solidFill>
                <a:latin typeface="Segoe UI Symbol"/>
                <a:cs typeface="Segoe UI Symbol"/>
              </a:rPr>
              <a:t> </a:t>
            </a:r>
            <a:r>
              <a:rPr sz="1500" b="1" spc="24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ROC</a:t>
            </a:r>
            <a:r>
              <a:rPr sz="1500" b="1" spc="21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500" b="1" spc="26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Curves</a:t>
            </a:r>
            <a:r>
              <a:rPr sz="1500" b="1" spc="21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500" b="1" spc="119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-</a:t>
            </a:r>
            <a:r>
              <a:rPr sz="1500" b="1" spc="21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500" b="1" spc="229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Excellent</a:t>
            </a:r>
            <a:r>
              <a:rPr sz="1500" b="1" spc="21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500" b="1" spc="16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Performance</a:t>
            </a:r>
            <a:endParaRPr sz="1500">
              <a:latin typeface="Adobe Clean SemiCondensed"/>
              <a:cs typeface="Adobe Clean SemiCondensed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972470" y="5715000"/>
            <a:ext cx="9563100" cy="2533650"/>
            <a:chOff x="1943100" y="5714999"/>
            <a:chExt cx="9563100" cy="253365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3100" y="5962649"/>
              <a:ext cx="3438524" cy="22859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067799" y="5714999"/>
              <a:ext cx="2438400" cy="609600"/>
            </a:xfrm>
            <a:custGeom>
              <a:avLst/>
              <a:gdLst/>
              <a:ahLst/>
              <a:cxnLst/>
              <a:rect l="l" t="t" r="r" b="b"/>
              <a:pathLst>
                <a:path w="2438400" h="609600">
                  <a:moveTo>
                    <a:pt x="2367203" y="609599"/>
                  </a:moveTo>
                  <a:lnTo>
                    <a:pt x="71196" y="609599"/>
                  </a:lnTo>
                  <a:lnTo>
                    <a:pt x="66240" y="609111"/>
                  </a:lnTo>
                  <a:lnTo>
                    <a:pt x="29705" y="593978"/>
                  </a:lnTo>
                  <a:lnTo>
                    <a:pt x="3885" y="557937"/>
                  </a:lnTo>
                  <a:lnTo>
                    <a:pt x="0" y="538403"/>
                  </a:lnTo>
                  <a:lnTo>
                    <a:pt x="0" y="5333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67203" y="0"/>
                  </a:lnTo>
                  <a:lnTo>
                    <a:pt x="2408693" y="15621"/>
                  </a:lnTo>
                  <a:lnTo>
                    <a:pt x="2434513" y="51661"/>
                  </a:lnTo>
                  <a:lnTo>
                    <a:pt x="2438399" y="71196"/>
                  </a:lnTo>
                  <a:lnTo>
                    <a:pt x="2438399" y="538403"/>
                  </a:lnTo>
                  <a:lnTo>
                    <a:pt x="2422777" y="579894"/>
                  </a:lnTo>
                  <a:lnTo>
                    <a:pt x="2386736" y="605714"/>
                  </a:lnTo>
                  <a:lnTo>
                    <a:pt x="2372157" y="609111"/>
                  </a:lnTo>
                  <a:lnTo>
                    <a:pt x="2367203" y="609599"/>
                  </a:lnTo>
                  <a:close/>
                </a:path>
              </a:pathLst>
            </a:custGeom>
            <a:solidFill>
              <a:srgbClr val="3B81F5">
                <a:alpha val="626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197281" y="5816601"/>
            <a:ext cx="7308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2250" b="1" spc="415" dirty="0">
                <a:solidFill>
                  <a:srgbClr val="0FB981"/>
                </a:solidFill>
                <a:latin typeface="Adobe Clean SemiCondensed"/>
                <a:cs typeface="Adobe Clean SemiCondensed"/>
              </a:rPr>
              <a:t>1.00</a:t>
            </a:r>
            <a:endParaRPr sz="2250">
              <a:latin typeface="Adobe Clean SemiCondensed"/>
              <a:cs typeface="Adobe Clean SemiCondensed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16728" y="5795645"/>
            <a:ext cx="1417320" cy="3924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1">
              <a:spcBef>
                <a:spcPts val="340"/>
              </a:spcBef>
            </a:pPr>
            <a:r>
              <a:rPr sz="1050" b="1" spc="17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Class</a:t>
            </a:r>
            <a:r>
              <a:rPr sz="1050" b="1" spc="146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391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1</a:t>
            </a:r>
            <a:r>
              <a:rPr sz="1050" b="1" spc="146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31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AUC</a:t>
            </a:r>
            <a:endParaRPr sz="1050">
              <a:latin typeface="Adobe Clean SemiCondensed"/>
              <a:cs typeface="Adobe Clean SemiCondensed"/>
            </a:endParaRPr>
          </a:p>
          <a:p>
            <a:pPr marL="12701">
              <a:spcBef>
                <a:spcPts val="240"/>
              </a:spcBef>
            </a:pPr>
            <a:r>
              <a:rPr sz="1050" dirty="0">
                <a:solidFill>
                  <a:srgbClr val="64738B"/>
                </a:solidFill>
                <a:latin typeface="Trebuchet MS"/>
                <a:cs typeface="Trebuchet MS"/>
              </a:rPr>
              <a:t>Perfect</a:t>
            </a:r>
            <a:r>
              <a:rPr sz="1050" spc="185" dirty="0">
                <a:solidFill>
                  <a:srgbClr val="64738B"/>
                </a:solidFill>
                <a:latin typeface="Trebuchet MS"/>
                <a:cs typeface="Trebuchet MS"/>
              </a:rPr>
              <a:t> </a:t>
            </a:r>
            <a:r>
              <a:rPr sz="1050" spc="45" dirty="0">
                <a:solidFill>
                  <a:srgbClr val="64738B"/>
                </a:solidFill>
                <a:latin typeface="Trebuchet MS"/>
                <a:cs typeface="Trebuchet MS"/>
              </a:rPr>
              <a:t>Classiﬁcation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097169" y="6438898"/>
            <a:ext cx="2438400" cy="609601"/>
          </a:xfrm>
          <a:custGeom>
            <a:avLst/>
            <a:gdLst/>
            <a:ahLst/>
            <a:cxnLst/>
            <a:rect l="l" t="t" r="r" b="b"/>
            <a:pathLst>
              <a:path w="2438400" h="609600">
                <a:moveTo>
                  <a:pt x="2367203" y="609599"/>
                </a:moveTo>
                <a:lnTo>
                  <a:pt x="71196" y="609599"/>
                </a:lnTo>
                <a:lnTo>
                  <a:pt x="66240" y="609111"/>
                </a:lnTo>
                <a:lnTo>
                  <a:pt x="29705" y="593977"/>
                </a:lnTo>
                <a:lnTo>
                  <a:pt x="3885" y="557937"/>
                </a:lnTo>
                <a:lnTo>
                  <a:pt x="0" y="538403"/>
                </a:lnTo>
                <a:lnTo>
                  <a:pt x="0" y="5333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367203" y="0"/>
                </a:lnTo>
                <a:lnTo>
                  <a:pt x="2408693" y="15621"/>
                </a:lnTo>
                <a:lnTo>
                  <a:pt x="2434513" y="51661"/>
                </a:lnTo>
                <a:lnTo>
                  <a:pt x="2438399" y="71196"/>
                </a:lnTo>
                <a:lnTo>
                  <a:pt x="2438399" y="538403"/>
                </a:lnTo>
                <a:lnTo>
                  <a:pt x="2422777" y="579894"/>
                </a:lnTo>
                <a:lnTo>
                  <a:pt x="2386736" y="605713"/>
                </a:lnTo>
                <a:lnTo>
                  <a:pt x="2372157" y="609111"/>
                </a:lnTo>
                <a:lnTo>
                  <a:pt x="2367203" y="609599"/>
                </a:lnTo>
                <a:close/>
              </a:path>
            </a:pathLst>
          </a:custGeom>
          <a:solidFill>
            <a:srgbClr val="3B81F5">
              <a:alpha val="626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197281" y="6540501"/>
            <a:ext cx="730885" cy="359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2250" b="1" spc="280" dirty="0">
                <a:solidFill>
                  <a:srgbClr val="0FB981"/>
                </a:solidFill>
                <a:latin typeface="Adobe Clean SemiCondensed"/>
                <a:cs typeface="Adobe Clean SemiCondensed"/>
              </a:rPr>
              <a:t>0.99</a:t>
            </a:r>
            <a:endParaRPr sz="2250">
              <a:latin typeface="Adobe Clean SemiCondensed"/>
              <a:cs typeface="Adobe Clean SemiCondensed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16729" y="6519543"/>
            <a:ext cx="908685" cy="3924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1">
              <a:spcBef>
                <a:spcPts val="340"/>
              </a:spcBef>
            </a:pPr>
            <a:r>
              <a:rPr sz="1050" b="1" spc="17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Class</a:t>
            </a:r>
            <a:r>
              <a:rPr sz="1050" b="1" spc="146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26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0</a:t>
            </a:r>
            <a:r>
              <a:rPr sz="1050" b="1" spc="146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31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AUC</a:t>
            </a:r>
            <a:endParaRPr sz="1050">
              <a:latin typeface="Adobe Clean SemiCondensed"/>
              <a:cs typeface="Adobe Clean SemiCondensed"/>
            </a:endParaRPr>
          </a:p>
          <a:p>
            <a:pPr marL="12701">
              <a:spcBef>
                <a:spcPts val="240"/>
              </a:spcBef>
            </a:pPr>
            <a:r>
              <a:rPr sz="1050" spc="70" dirty="0">
                <a:solidFill>
                  <a:srgbClr val="64738B"/>
                </a:solidFill>
                <a:latin typeface="Trebuchet MS"/>
                <a:cs typeface="Trebuchet MS"/>
              </a:rPr>
              <a:t>Near</a:t>
            </a:r>
            <a:r>
              <a:rPr sz="1050" spc="20" dirty="0">
                <a:solidFill>
                  <a:srgbClr val="64738B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64738B"/>
                </a:solidFill>
                <a:latin typeface="Trebuchet MS"/>
                <a:cs typeface="Trebuchet MS"/>
              </a:rPr>
              <a:t>Perfect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097169" y="7162798"/>
            <a:ext cx="2438400" cy="609601"/>
          </a:xfrm>
          <a:custGeom>
            <a:avLst/>
            <a:gdLst/>
            <a:ahLst/>
            <a:cxnLst/>
            <a:rect l="l" t="t" r="r" b="b"/>
            <a:pathLst>
              <a:path w="2438400" h="609600">
                <a:moveTo>
                  <a:pt x="2367203" y="609599"/>
                </a:moveTo>
                <a:lnTo>
                  <a:pt x="71196" y="609599"/>
                </a:lnTo>
                <a:lnTo>
                  <a:pt x="66240" y="609111"/>
                </a:lnTo>
                <a:lnTo>
                  <a:pt x="29705" y="593977"/>
                </a:lnTo>
                <a:lnTo>
                  <a:pt x="3885" y="557937"/>
                </a:lnTo>
                <a:lnTo>
                  <a:pt x="0" y="538403"/>
                </a:lnTo>
                <a:lnTo>
                  <a:pt x="0" y="5333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367203" y="0"/>
                </a:lnTo>
                <a:lnTo>
                  <a:pt x="2408693" y="15621"/>
                </a:lnTo>
                <a:lnTo>
                  <a:pt x="2434513" y="51661"/>
                </a:lnTo>
                <a:lnTo>
                  <a:pt x="2438399" y="71196"/>
                </a:lnTo>
                <a:lnTo>
                  <a:pt x="2438399" y="538403"/>
                </a:lnTo>
                <a:lnTo>
                  <a:pt x="2422777" y="579894"/>
                </a:lnTo>
                <a:lnTo>
                  <a:pt x="2386736" y="605714"/>
                </a:lnTo>
                <a:lnTo>
                  <a:pt x="2372157" y="609111"/>
                </a:lnTo>
                <a:lnTo>
                  <a:pt x="2367203" y="609599"/>
                </a:lnTo>
                <a:close/>
              </a:path>
            </a:pathLst>
          </a:custGeom>
          <a:solidFill>
            <a:srgbClr val="3B81F5">
              <a:alpha val="626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197281" y="7264400"/>
            <a:ext cx="730885" cy="359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2250" b="1" spc="290" dirty="0">
                <a:solidFill>
                  <a:srgbClr val="3B81F5"/>
                </a:solidFill>
                <a:latin typeface="Adobe Clean SemiCondensed"/>
                <a:cs typeface="Adobe Clean SemiCondensed"/>
              </a:rPr>
              <a:t>0.98</a:t>
            </a:r>
            <a:endParaRPr sz="2250">
              <a:latin typeface="Adobe Clean SemiCondensed"/>
              <a:cs typeface="Adobe Clean SemiCondensed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016729" y="7243445"/>
            <a:ext cx="908685" cy="3924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1">
              <a:spcBef>
                <a:spcPts val="340"/>
              </a:spcBef>
            </a:pPr>
            <a:r>
              <a:rPr sz="1050" b="1" spc="17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Class</a:t>
            </a:r>
            <a:r>
              <a:rPr sz="1050" b="1" spc="146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7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3</a:t>
            </a:r>
            <a:r>
              <a:rPr sz="1050" b="1" spc="146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31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AUC</a:t>
            </a:r>
            <a:endParaRPr sz="1050">
              <a:latin typeface="Adobe Clean SemiCondensed"/>
              <a:cs typeface="Adobe Clean SemiCondensed"/>
            </a:endParaRPr>
          </a:p>
          <a:p>
            <a:pPr marL="12701">
              <a:spcBef>
                <a:spcPts val="240"/>
              </a:spcBef>
            </a:pPr>
            <a:r>
              <a:rPr sz="1050" spc="-10" dirty="0">
                <a:solidFill>
                  <a:srgbClr val="64738B"/>
                </a:solidFill>
                <a:latin typeface="Trebuchet MS"/>
                <a:cs typeface="Trebuchet MS"/>
              </a:rPr>
              <a:t>Excellent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097169" y="7886699"/>
            <a:ext cx="2438400" cy="609601"/>
          </a:xfrm>
          <a:custGeom>
            <a:avLst/>
            <a:gdLst/>
            <a:ahLst/>
            <a:cxnLst/>
            <a:rect l="l" t="t" r="r" b="b"/>
            <a:pathLst>
              <a:path w="2438400" h="609600">
                <a:moveTo>
                  <a:pt x="2367203" y="609599"/>
                </a:moveTo>
                <a:lnTo>
                  <a:pt x="71196" y="609599"/>
                </a:lnTo>
                <a:lnTo>
                  <a:pt x="66240" y="609111"/>
                </a:lnTo>
                <a:lnTo>
                  <a:pt x="29705" y="593978"/>
                </a:lnTo>
                <a:lnTo>
                  <a:pt x="3885" y="557937"/>
                </a:lnTo>
                <a:lnTo>
                  <a:pt x="0" y="538403"/>
                </a:lnTo>
                <a:lnTo>
                  <a:pt x="0" y="5333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367203" y="0"/>
                </a:lnTo>
                <a:lnTo>
                  <a:pt x="2408693" y="15621"/>
                </a:lnTo>
                <a:lnTo>
                  <a:pt x="2434513" y="51661"/>
                </a:lnTo>
                <a:lnTo>
                  <a:pt x="2438399" y="71196"/>
                </a:lnTo>
                <a:lnTo>
                  <a:pt x="2438399" y="538403"/>
                </a:lnTo>
                <a:lnTo>
                  <a:pt x="2422777" y="579894"/>
                </a:lnTo>
                <a:lnTo>
                  <a:pt x="2386736" y="605713"/>
                </a:lnTo>
                <a:lnTo>
                  <a:pt x="2372157" y="609111"/>
                </a:lnTo>
                <a:lnTo>
                  <a:pt x="2367203" y="609599"/>
                </a:lnTo>
                <a:close/>
              </a:path>
            </a:pathLst>
          </a:custGeom>
          <a:solidFill>
            <a:srgbClr val="3B81F5">
              <a:alpha val="626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197281" y="7988301"/>
            <a:ext cx="730885" cy="359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2250" b="1" spc="305" dirty="0">
                <a:solidFill>
                  <a:srgbClr val="3B81F5"/>
                </a:solidFill>
                <a:latin typeface="Adobe Clean SemiCondensed"/>
                <a:cs typeface="Adobe Clean SemiCondensed"/>
              </a:rPr>
              <a:t>0.95</a:t>
            </a:r>
            <a:endParaRPr sz="2250">
              <a:latin typeface="Adobe Clean SemiCondensed"/>
              <a:cs typeface="Adobe Clean SemiCondensed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016729" y="7967345"/>
            <a:ext cx="908685" cy="3924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1">
              <a:spcBef>
                <a:spcPts val="340"/>
              </a:spcBef>
            </a:pPr>
            <a:r>
              <a:rPr sz="1050" b="1" spc="17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Class</a:t>
            </a:r>
            <a:r>
              <a:rPr sz="1050" b="1" spc="146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20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2</a:t>
            </a:r>
            <a:r>
              <a:rPr sz="1050" b="1" spc="15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31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AUC</a:t>
            </a:r>
            <a:endParaRPr sz="1050">
              <a:latin typeface="Adobe Clean SemiCondensed"/>
              <a:cs typeface="Adobe Clean SemiCondensed"/>
            </a:endParaRPr>
          </a:p>
          <a:p>
            <a:pPr marL="12701">
              <a:spcBef>
                <a:spcPts val="240"/>
              </a:spcBef>
            </a:pPr>
            <a:r>
              <a:rPr sz="1050" spc="50" dirty="0">
                <a:solidFill>
                  <a:srgbClr val="64738B"/>
                </a:solidFill>
                <a:latin typeface="Trebuchet MS"/>
                <a:cs typeface="Trebuchet MS"/>
              </a:rPr>
              <a:t>Very</a:t>
            </a:r>
            <a:r>
              <a:rPr sz="1050" spc="25" dirty="0">
                <a:solidFill>
                  <a:srgbClr val="64738B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64738B"/>
                </a:solidFill>
                <a:latin typeface="Trebuchet MS"/>
                <a:cs typeface="Trebuchet MS"/>
              </a:rPr>
              <a:t>Good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71" y="2"/>
            <a:ext cx="12191999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1833" y="406402"/>
            <a:ext cx="6679775" cy="65915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36197">
              <a:spcBef>
                <a:spcPts val="99"/>
              </a:spcBef>
            </a:pPr>
            <a:r>
              <a:rPr spc="450" dirty="0"/>
              <a:t>Deployment</a:t>
            </a:r>
            <a:r>
              <a:rPr spc="371" dirty="0"/>
              <a:t> </a:t>
            </a:r>
            <a:r>
              <a:rPr spc="465" dirty="0"/>
              <a:t>&amp;</a:t>
            </a:r>
            <a:r>
              <a:rPr spc="371" dirty="0"/>
              <a:t> </a:t>
            </a:r>
            <a:r>
              <a:rPr spc="530" dirty="0"/>
              <a:t>System</a:t>
            </a:r>
            <a:r>
              <a:rPr spc="371" dirty="0"/>
              <a:t> </a:t>
            </a:r>
            <a:r>
              <a:rPr spc="415" dirty="0"/>
              <a:t>Integration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835" y="1789178"/>
            <a:ext cx="11625071" cy="46512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0570" y="4016376"/>
            <a:ext cx="225996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2700" spc="1995" baseline="-4629" dirty="0">
                <a:solidFill>
                  <a:srgbClr val="3B81F5"/>
                </a:solidFill>
                <a:latin typeface="Segoe UI Symbol"/>
                <a:cs typeface="Segoe UI Symbol"/>
              </a:rPr>
              <a:t></a:t>
            </a:r>
            <a:r>
              <a:rPr sz="2700" spc="599" baseline="-4629" dirty="0">
                <a:solidFill>
                  <a:srgbClr val="3B81F5"/>
                </a:solidFill>
                <a:latin typeface="Segoe UI Symbol"/>
                <a:cs typeface="Segoe UI Symbol"/>
              </a:rPr>
              <a:t> </a:t>
            </a:r>
            <a:r>
              <a:rPr sz="1500" b="1" spc="29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System</a:t>
            </a:r>
            <a:r>
              <a:rPr sz="1500" b="1" spc="204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500" b="1" spc="99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Workﬂow</a:t>
            </a:r>
            <a:endParaRPr sz="1500">
              <a:latin typeface="Adobe Clean SemiCondensed"/>
              <a:cs typeface="Adobe Clean SemiCondense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533" y="4521201"/>
            <a:ext cx="92074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1">
              <a:spcBef>
                <a:spcPts val="126"/>
              </a:spcBef>
            </a:pPr>
            <a:r>
              <a:rPr sz="800" spc="4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5370" y="4511678"/>
            <a:ext cx="1249679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050" spc="75" dirty="0">
                <a:solidFill>
                  <a:srgbClr val="334054"/>
                </a:solidFill>
                <a:latin typeface="Trebuchet MS"/>
                <a:cs typeface="Trebuchet MS"/>
              </a:rPr>
              <a:t>Dataset</a:t>
            </a:r>
            <a:r>
              <a:rPr sz="1050" spc="2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Trebuchet MS"/>
                <a:cs typeface="Trebuchet MS"/>
              </a:rPr>
              <a:t>Collection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1533" y="4826001"/>
            <a:ext cx="92074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1">
              <a:spcBef>
                <a:spcPts val="126"/>
              </a:spcBef>
            </a:pPr>
            <a:r>
              <a:rPr sz="800" spc="45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5369" y="4816477"/>
            <a:ext cx="1316990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050" spc="80" dirty="0">
                <a:solidFill>
                  <a:srgbClr val="334054"/>
                </a:solidFill>
                <a:latin typeface="Trebuchet MS"/>
                <a:cs typeface="Trebuchet MS"/>
              </a:rPr>
              <a:t>Data</a:t>
            </a:r>
            <a:r>
              <a:rPr sz="1050" spc="1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334054"/>
                </a:solidFill>
                <a:latin typeface="Trebuchet MS"/>
                <a:cs typeface="Trebuchet MS"/>
              </a:rPr>
              <a:t>Preprocessing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1533" y="5130801"/>
            <a:ext cx="92074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1">
              <a:spcBef>
                <a:spcPts val="126"/>
              </a:spcBef>
            </a:pPr>
            <a:r>
              <a:rPr sz="800" spc="45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5370" y="5121277"/>
            <a:ext cx="1979930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050" spc="70" dirty="0">
                <a:solidFill>
                  <a:srgbClr val="334054"/>
                </a:solidFill>
                <a:latin typeface="Trebuchet MS"/>
                <a:cs typeface="Trebuchet MS"/>
              </a:rPr>
              <a:t>Model</a:t>
            </a:r>
            <a:r>
              <a:rPr sz="105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334054"/>
                </a:solidFill>
                <a:latin typeface="Trebuchet MS"/>
                <a:cs typeface="Trebuchet MS"/>
              </a:rPr>
              <a:t>Development</a:t>
            </a:r>
            <a:r>
              <a:rPr sz="1050" spc="4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334054"/>
                </a:solidFill>
                <a:latin typeface="Trebuchet MS"/>
                <a:cs typeface="Trebuchet MS"/>
              </a:rPr>
              <a:t>(VGG16)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1533" y="5435602"/>
            <a:ext cx="92074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1">
              <a:spcBef>
                <a:spcPts val="126"/>
              </a:spcBef>
            </a:pPr>
            <a:r>
              <a:rPr sz="800" spc="45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5369" y="5426077"/>
            <a:ext cx="1443990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050" dirty="0">
                <a:solidFill>
                  <a:srgbClr val="334054"/>
                </a:solidFill>
                <a:latin typeface="Trebuchet MS"/>
                <a:cs typeface="Trebuchet MS"/>
              </a:rPr>
              <a:t>Training</a:t>
            </a:r>
            <a:r>
              <a:rPr sz="1050" spc="15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334054"/>
                </a:solidFill>
                <a:latin typeface="Trebuchet MS"/>
                <a:cs typeface="Trebuchet MS"/>
              </a:rPr>
              <a:t>&amp;</a:t>
            </a:r>
            <a:r>
              <a:rPr sz="1050" spc="15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050" spc="45" dirty="0">
                <a:solidFill>
                  <a:srgbClr val="334054"/>
                </a:solidFill>
                <a:latin typeface="Trebuchet MS"/>
                <a:cs typeface="Trebuchet MS"/>
              </a:rPr>
              <a:t>Evaluation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1533" y="5740401"/>
            <a:ext cx="92074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1">
              <a:spcBef>
                <a:spcPts val="126"/>
              </a:spcBef>
            </a:pPr>
            <a:r>
              <a:rPr sz="800" spc="45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45371" y="5730876"/>
            <a:ext cx="1913889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050" b="1" spc="175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Deployment</a:t>
            </a:r>
            <a:r>
              <a:rPr sz="1050" b="1" spc="146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85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&amp;</a:t>
            </a:r>
            <a:r>
              <a:rPr sz="1050" b="1" spc="146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 </a:t>
            </a:r>
            <a:r>
              <a:rPr sz="1050" b="1" spc="150" dirty="0">
                <a:solidFill>
                  <a:srgbClr val="334054"/>
                </a:solidFill>
                <a:latin typeface="Adobe Clean SemiCondensed"/>
                <a:cs typeface="Adobe Clean SemiCondensed"/>
              </a:rPr>
              <a:t>Prediction</a:t>
            </a:r>
            <a:endParaRPr sz="1050">
              <a:latin typeface="Adobe Clean SemiCondensed"/>
              <a:cs typeface="Adobe Clean SemiCondensed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21518" y="2133602"/>
          <a:ext cx="8822691" cy="1422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3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955">
                <a:tc>
                  <a:txBody>
                    <a:bodyPr/>
                    <a:lstStyle/>
                    <a:p>
                      <a:pPr marL="31750">
                        <a:lnSpc>
                          <a:spcPts val="1785"/>
                        </a:lnSpc>
                      </a:pPr>
                      <a:r>
                        <a:rPr sz="2700" spc="2504" baseline="-4629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</a:t>
                      </a:r>
                      <a:r>
                        <a:rPr sz="2700" spc="615" baseline="-4629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500" b="1" spc="254" dirty="0">
                          <a:solidFill>
                            <a:srgbClr val="1D3A8A"/>
                          </a:solidFill>
                          <a:latin typeface="Adobe Clean SemiCondensed"/>
                          <a:cs typeface="Adobe Clean SemiCondensed"/>
                        </a:rPr>
                        <a:t>Python</a:t>
                      </a:r>
                      <a:r>
                        <a:rPr sz="1500" b="1" spc="210" dirty="0">
                          <a:solidFill>
                            <a:srgbClr val="1D3A8A"/>
                          </a:solidFill>
                          <a:latin typeface="Adobe Clean SemiCondensed"/>
                          <a:cs typeface="Adobe Clean SemiCondensed"/>
                        </a:rPr>
                        <a:t> </a:t>
                      </a:r>
                      <a:r>
                        <a:rPr sz="1500" b="1" spc="240" dirty="0">
                          <a:solidFill>
                            <a:srgbClr val="1D3A8A"/>
                          </a:solidFill>
                          <a:latin typeface="Adobe Clean SemiCondensed"/>
                          <a:cs typeface="Adobe Clean SemiCondensed"/>
                        </a:rPr>
                        <a:t>Deployment</a:t>
                      </a:r>
                      <a:endParaRPr sz="1500">
                        <a:latin typeface="Adobe Clean SemiCondensed"/>
                        <a:cs typeface="Adobe Clean SemiCondensed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8850">
                        <a:lnSpc>
                          <a:spcPts val="1935"/>
                        </a:lnSpc>
                      </a:pPr>
                      <a:r>
                        <a:rPr sz="1700" spc="25" dirty="0">
                          <a:solidFill>
                            <a:srgbClr val="0FB981"/>
                          </a:solidFill>
                          <a:latin typeface="Segoe UI Symbol"/>
                          <a:cs typeface="Segoe UI Symbol"/>
                        </a:rPr>
                        <a:t>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1725"/>
                        </a:lnSpc>
                      </a:pPr>
                      <a:r>
                        <a:rPr sz="1500" b="1" spc="265" dirty="0">
                          <a:solidFill>
                            <a:srgbClr val="1D3A8A"/>
                          </a:solidFill>
                          <a:latin typeface="Adobe Clean SemiCondensed"/>
                          <a:cs typeface="Adobe Clean SemiCondensed"/>
                        </a:rPr>
                        <a:t>Hardware</a:t>
                      </a:r>
                      <a:r>
                        <a:rPr sz="1500" b="1" spc="215" dirty="0">
                          <a:solidFill>
                            <a:srgbClr val="1D3A8A"/>
                          </a:solidFill>
                          <a:latin typeface="Adobe Clean SemiCondensed"/>
                          <a:cs typeface="Adobe Clean SemiCondensed"/>
                        </a:rPr>
                        <a:t> </a:t>
                      </a:r>
                      <a:r>
                        <a:rPr sz="1500" b="1" spc="245" dirty="0">
                          <a:solidFill>
                            <a:srgbClr val="1D3A8A"/>
                          </a:solidFill>
                          <a:latin typeface="Adobe Clean SemiCondensed"/>
                          <a:cs typeface="Adobe Clean SemiCondensed"/>
                        </a:rPr>
                        <a:t>Requirements</a:t>
                      </a:r>
                      <a:endParaRPr sz="1500">
                        <a:latin typeface="Adobe Clean SemiCondensed"/>
                        <a:cs typeface="Adobe Clean SemiCondensed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26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700" spc="967" baseline="-11574" dirty="0">
                          <a:solidFill>
                            <a:srgbClr val="0FB981"/>
                          </a:solidFill>
                          <a:latin typeface="Segoe UI Symbol"/>
                          <a:cs typeface="Segoe UI Symbol"/>
                        </a:rPr>
                        <a:t></a:t>
                      </a:r>
                      <a:r>
                        <a:rPr sz="1700" spc="509" baseline="-11574" dirty="0">
                          <a:solidFill>
                            <a:srgbClr val="0FB981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Uniﬁed</a:t>
                      </a:r>
                      <a:r>
                        <a:rPr sz="1000" spc="6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script</a:t>
                      </a:r>
                      <a:r>
                        <a:rPr sz="1000" spc="6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(main.py)</a:t>
                      </a:r>
                      <a:r>
                        <a:rPr sz="1000" spc="6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000" spc="6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sz="1000" spc="6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loading </a:t>
                      </a:r>
                      <a:r>
                        <a:rPr sz="1000" spc="8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sz="1000" spc="5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-1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prediction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76200" marB="0"/>
                </a:tc>
                <a:tc>
                  <a:txBody>
                    <a:bodyPr/>
                    <a:lstStyle/>
                    <a:p>
                      <a:pPr marL="958850" marR="317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550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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47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000" b="1" spc="160" dirty="0">
                          <a:solidFill>
                            <a:srgbClr val="334054"/>
                          </a:solidFill>
                          <a:latin typeface="Adobe Clean SemiCondensed"/>
                          <a:cs typeface="Adobe Clean SemiCondensed"/>
                        </a:rPr>
                        <a:t>GPU:</a:t>
                      </a:r>
                      <a:r>
                        <a:rPr sz="1000" b="1" spc="120" dirty="0">
                          <a:solidFill>
                            <a:srgbClr val="334054"/>
                          </a:solidFill>
                          <a:latin typeface="Adobe Clean SemiCondensed"/>
                          <a:cs typeface="Adobe Clean SemiCondensed"/>
                        </a:rPr>
                        <a:t> </a:t>
                      </a:r>
                      <a:r>
                        <a:rPr sz="1000" spc="8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NVIDIA</a:t>
                      </a:r>
                      <a:r>
                        <a:rPr sz="1000" spc="3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-1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T4/P100/RTX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952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700" spc="967" baseline="-11574" dirty="0">
                          <a:solidFill>
                            <a:srgbClr val="0FB981"/>
                          </a:solidFill>
                          <a:latin typeface="Segoe UI Symbol"/>
                          <a:cs typeface="Segoe UI Symbol"/>
                        </a:rPr>
                        <a:t></a:t>
                      </a:r>
                      <a:r>
                        <a:rPr sz="1700" spc="517" baseline="-11574" dirty="0">
                          <a:solidFill>
                            <a:srgbClr val="0FB981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Gradio</a:t>
                      </a:r>
                      <a:r>
                        <a:rPr sz="1000" spc="6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7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web</a:t>
                      </a:r>
                      <a:r>
                        <a:rPr sz="1000" spc="6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1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interface</a:t>
                      </a:r>
                      <a:r>
                        <a:rPr sz="1000" spc="6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1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000" spc="6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9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easy</a:t>
                      </a:r>
                      <a:r>
                        <a:rPr sz="1000" spc="6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8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image</a:t>
                      </a:r>
                      <a:r>
                        <a:rPr sz="1000" spc="6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upload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958850" marR="317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spc="550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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66675" marB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000" b="1" spc="160" dirty="0">
                          <a:solidFill>
                            <a:srgbClr val="334054"/>
                          </a:solidFill>
                          <a:latin typeface="Adobe Clean SemiCondensed"/>
                          <a:cs typeface="Adobe Clean SemiCondensed"/>
                        </a:rPr>
                        <a:t>RAM:</a:t>
                      </a:r>
                      <a:r>
                        <a:rPr sz="1000" b="1" spc="114" dirty="0">
                          <a:solidFill>
                            <a:srgbClr val="334054"/>
                          </a:solidFill>
                          <a:latin typeface="Adobe Clean SemiCondensed"/>
                          <a:cs typeface="Adobe Clean SemiCondensed"/>
                        </a:rPr>
                        <a:t> </a:t>
                      </a:r>
                      <a:r>
                        <a:rPr sz="1000" spc="7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8-</a:t>
                      </a:r>
                      <a:r>
                        <a:rPr sz="1000" spc="8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16</a:t>
                      </a:r>
                      <a:r>
                        <a:rPr sz="1000" spc="2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8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GB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571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44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700" spc="967" baseline="-11574" dirty="0">
                          <a:solidFill>
                            <a:srgbClr val="0FB981"/>
                          </a:solidFill>
                          <a:latin typeface="Segoe UI Symbol"/>
                          <a:cs typeface="Segoe UI Symbol"/>
                        </a:rPr>
                        <a:t></a:t>
                      </a:r>
                      <a:r>
                        <a:rPr sz="1700" spc="427" baseline="-11574" dirty="0">
                          <a:solidFill>
                            <a:srgbClr val="0FB981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b="1" spc="150" dirty="0">
                          <a:solidFill>
                            <a:srgbClr val="0FB981"/>
                          </a:solidFill>
                          <a:latin typeface="Adobe Clean SemiCondensed"/>
                          <a:cs typeface="Adobe Clean SemiCondensed"/>
                        </a:rPr>
                        <a:t>Real-</a:t>
                      </a:r>
                      <a:r>
                        <a:rPr sz="1000" b="1" spc="165" dirty="0">
                          <a:solidFill>
                            <a:srgbClr val="0FB981"/>
                          </a:solidFill>
                          <a:latin typeface="Adobe Clean SemiCondensed"/>
                          <a:cs typeface="Adobe Clean SemiCondensed"/>
                        </a:rPr>
                        <a:t>time</a:t>
                      </a:r>
                      <a:r>
                        <a:rPr sz="1000" b="1" spc="145" dirty="0">
                          <a:solidFill>
                            <a:srgbClr val="0FB981"/>
                          </a:solidFill>
                          <a:latin typeface="Adobe Clean SemiCondensed"/>
                          <a:cs typeface="Adobe Clean SemiCondensed"/>
                        </a:rPr>
                        <a:t> </a:t>
                      </a:r>
                      <a:r>
                        <a:rPr sz="1000" b="1" spc="160" dirty="0">
                          <a:solidFill>
                            <a:srgbClr val="0FB981"/>
                          </a:solidFill>
                          <a:latin typeface="Adobe Clean SemiCondensed"/>
                          <a:cs typeface="Adobe Clean SemiCondensed"/>
                        </a:rPr>
                        <a:t>predictions:</a:t>
                      </a:r>
                      <a:r>
                        <a:rPr sz="1000" b="1" spc="150" dirty="0">
                          <a:solidFill>
                            <a:srgbClr val="0FB981"/>
                          </a:solidFill>
                          <a:latin typeface="Adobe Clean SemiCondensed"/>
                          <a:cs typeface="Adobe Clean SemiCondensed"/>
                        </a:rPr>
                        <a:t> </a:t>
                      </a:r>
                      <a:r>
                        <a:rPr sz="1000" b="1" spc="345" dirty="0">
                          <a:solidFill>
                            <a:srgbClr val="0FB981"/>
                          </a:solidFill>
                          <a:latin typeface="Adobe Clean SemiCondensed"/>
                          <a:cs typeface="Adobe Clean SemiCondensed"/>
                        </a:rPr>
                        <a:t>&lt;1</a:t>
                      </a:r>
                      <a:r>
                        <a:rPr sz="1000" b="1" spc="150" dirty="0">
                          <a:solidFill>
                            <a:srgbClr val="0FB981"/>
                          </a:solidFill>
                          <a:latin typeface="Adobe Clean SemiCondensed"/>
                          <a:cs typeface="Adobe Clean SemiCondensed"/>
                        </a:rPr>
                        <a:t> </a:t>
                      </a:r>
                      <a:r>
                        <a:rPr sz="1000" b="1" spc="170" dirty="0">
                          <a:solidFill>
                            <a:srgbClr val="0FB981"/>
                          </a:solidFill>
                          <a:latin typeface="Adobe Clean SemiCondensed"/>
                          <a:cs typeface="Adobe Clean SemiCondensed"/>
                        </a:rPr>
                        <a:t>second</a:t>
                      </a:r>
                      <a:endParaRPr sz="1000">
                        <a:latin typeface="Adobe Clean SemiCondensed"/>
                        <a:cs typeface="Adobe Clean SemiCondensed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958850" marR="3175">
                        <a:lnSpc>
                          <a:spcPts val="1250"/>
                        </a:lnSpc>
                        <a:spcBef>
                          <a:spcPts val="525"/>
                        </a:spcBef>
                      </a:pPr>
                      <a:r>
                        <a:rPr sz="1200" spc="550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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666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000" b="1" spc="175" dirty="0">
                          <a:solidFill>
                            <a:srgbClr val="334054"/>
                          </a:solidFill>
                          <a:latin typeface="Adobe Clean SemiCondensed"/>
                          <a:cs typeface="Adobe Clean SemiCondensed"/>
                        </a:rPr>
                        <a:t>Storage:</a:t>
                      </a:r>
                      <a:r>
                        <a:rPr sz="1000" b="1" spc="110" dirty="0">
                          <a:solidFill>
                            <a:srgbClr val="334054"/>
                          </a:solidFill>
                          <a:latin typeface="Adobe Clean SemiCondensed"/>
                          <a:cs typeface="Adobe Clean SemiCondensed"/>
                        </a:rPr>
                        <a:t> </a:t>
                      </a:r>
                      <a:r>
                        <a:rPr sz="1000" spc="8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Minimum</a:t>
                      </a:r>
                      <a:r>
                        <a:rPr sz="1000" spc="2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114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1000" spc="2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8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GB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571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531771" y="4016376"/>
            <a:ext cx="20580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2700" spc="2504" baseline="-4629" dirty="0">
                <a:solidFill>
                  <a:srgbClr val="0FB981"/>
                </a:solidFill>
                <a:latin typeface="Segoe UI Symbol"/>
                <a:cs typeface="Segoe UI Symbol"/>
              </a:rPr>
              <a:t></a:t>
            </a:r>
            <a:r>
              <a:rPr sz="2700" spc="599" baseline="-4629" dirty="0">
                <a:solidFill>
                  <a:srgbClr val="0FB981"/>
                </a:solidFill>
                <a:latin typeface="Segoe UI Symbol"/>
                <a:cs typeface="Segoe UI Symbol"/>
              </a:rPr>
              <a:t> </a:t>
            </a:r>
            <a:r>
              <a:rPr sz="1500" b="1" spc="26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Software</a:t>
            </a:r>
            <a:r>
              <a:rPr sz="1500" b="1" spc="204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500" b="1" spc="-2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Stack</a:t>
            </a:r>
            <a:endParaRPr sz="1500">
              <a:latin typeface="Adobe Clean SemiCondensed"/>
              <a:cs typeface="Adobe Clean SemiCondense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07969" y="4530727"/>
            <a:ext cx="1019810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050" spc="165" dirty="0">
                <a:solidFill>
                  <a:srgbClr val="3B81F5"/>
                </a:solidFill>
                <a:latin typeface="Arial"/>
                <a:cs typeface="Arial"/>
              </a:rPr>
              <a:t></a:t>
            </a:r>
            <a:r>
              <a:rPr sz="1050" spc="315" dirty="0">
                <a:solidFill>
                  <a:srgbClr val="3B81F5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334054"/>
                </a:solidFill>
                <a:latin typeface="Trebuchet MS"/>
                <a:cs typeface="Trebuchet MS"/>
              </a:rPr>
              <a:t>Python</a:t>
            </a:r>
            <a:r>
              <a:rPr sz="1050" spc="3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34054"/>
                </a:solidFill>
                <a:latin typeface="Trebuchet MS"/>
                <a:cs typeface="Trebuchet MS"/>
              </a:rPr>
              <a:t>3.10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60669" y="4530727"/>
            <a:ext cx="1219200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050" spc="575" dirty="0">
                <a:solidFill>
                  <a:srgbClr val="3B81F5"/>
                </a:solidFill>
                <a:latin typeface="Segoe UI Symbol"/>
                <a:cs typeface="Segoe UI Symbol"/>
              </a:rPr>
              <a:t></a:t>
            </a:r>
            <a:r>
              <a:rPr sz="1050" spc="480" dirty="0">
                <a:solidFill>
                  <a:srgbClr val="3B81F5"/>
                </a:solidFill>
                <a:latin typeface="Segoe UI Symbol"/>
                <a:cs typeface="Segoe UI Symbol"/>
              </a:rPr>
              <a:t> </a:t>
            </a:r>
            <a:r>
              <a:rPr sz="1050" spc="10" dirty="0">
                <a:solidFill>
                  <a:srgbClr val="334054"/>
                </a:solidFill>
                <a:latin typeface="Trebuchet MS"/>
                <a:cs typeface="Trebuchet MS"/>
              </a:rPr>
              <a:t>TensorFlow</a:t>
            </a:r>
            <a:r>
              <a:rPr sz="1050" spc="114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050" spc="-109" dirty="0">
                <a:solidFill>
                  <a:srgbClr val="334054"/>
                </a:solidFill>
                <a:latin typeface="Trebuchet MS"/>
                <a:cs typeface="Trebuchet MS"/>
              </a:rPr>
              <a:t>2.x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07969" y="4911728"/>
            <a:ext cx="621030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050" spc="785" dirty="0">
                <a:solidFill>
                  <a:srgbClr val="3B81F5"/>
                </a:solidFill>
                <a:latin typeface="Segoe UI Symbol"/>
                <a:cs typeface="Segoe UI Symbol"/>
              </a:rPr>
              <a:t></a:t>
            </a:r>
            <a:r>
              <a:rPr sz="1050" spc="305" dirty="0">
                <a:solidFill>
                  <a:srgbClr val="3B81F5"/>
                </a:solidFill>
                <a:latin typeface="Segoe UI Symbol"/>
                <a:cs typeface="Segoe UI Symbol"/>
              </a:rPr>
              <a:t> </a:t>
            </a:r>
            <a:r>
              <a:rPr sz="1050" spc="-60" dirty="0">
                <a:solidFill>
                  <a:srgbClr val="334054"/>
                </a:solidFill>
                <a:latin typeface="Trebuchet MS"/>
                <a:cs typeface="Trebuchet MS"/>
              </a:rPr>
              <a:t>Keras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60671" y="4911728"/>
            <a:ext cx="122999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050" spc="575" dirty="0">
                <a:solidFill>
                  <a:srgbClr val="3B81F5"/>
                </a:solidFill>
                <a:latin typeface="Segoe UI Symbol"/>
                <a:cs typeface="Segoe UI Symbol"/>
              </a:rPr>
              <a:t></a:t>
            </a:r>
            <a:r>
              <a:rPr sz="1050" spc="305" dirty="0">
                <a:solidFill>
                  <a:srgbClr val="3B81F5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Trebuchet MS"/>
                <a:cs typeface="Trebuchet MS"/>
              </a:rPr>
              <a:t>NumPy/Pandas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07969" y="5292727"/>
            <a:ext cx="775970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050" spc="575" dirty="0">
                <a:solidFill>
                  <a:srgbClr val="3B81F5"/>
                </a:solidFill>
                <a:latin typeface="Segoe UI Symbol"/>
                <a:cs typeface="Segoe UI Symbol"/>
              </a:rPr>
              <a:t></a:t>
            </a:r>
            <a:r>
              <a:rPr sz="1050" spc="305" dirty="0">
                <a:solidFill>
                  <a:srgbClr val="3B81F5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Trebuchet MS"/>
                <a:cs typeface="Trebuchet MS"/>
              </a:rPr>
              <a:t>OpenCV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60670" y="5292727"/>
            <a:ext cx="89852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050" spc="575" dirty="0">
                <a:solidFill>
                  <a:srgbClr val="3B81F5"/>
                </a:solidFill>
                <a:latin typeface="Segoe UI Symbol"/>
                <a:cs typeface="Segoe UI Symbol"/>
              </a:rPr>
              <a:t></a:t>
            </a:r>
            <a:r>
              <a:rPr sz="1050" spc="305" dirty="0">
                <a:solidFill>
                  <a:srgbClr val="3B81F5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Trebuchet MS"/>
                <a:cs typeface="Trebuchet MS"/>
              </a:rPr>
              <a:t>Matplotlib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658600" y="6359525"/>
            <a:ext cx="11874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050" b="1" spc="165" dirty="0">
                <a:solidFill>
                  <a:srgbClr val="64738B"/>
                </a:solidFill>
                <a:latin typeface="Adobe Clean SemiCondensed"/>
                <a:cs typeface="Adobe Clean SemiCondensed"/>
              </a:rPr>
              <a:t>7</a:t>
            </a:r>
            <a:endParaRPr sz="1050">
              <a:latin typeface="Adobe Clean SemiCondensed"/>
              <a:cs typeface="Adobe Clean SemiCondens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71" y="2"/>
            <a:ext cx="12191999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28207" y="720727"/>
            <a:ext cx="6199505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  <a:tabLst>
                <a:tab pos="2780194" algn="l"/>
                <a:tab pos="3258378" algn="l"/>
                <a:tab pos="4847242" algn="l"/>
              </a:tabLst>
            </a:pPr>
            <a:r>
              <a:rPr sz="3150" spc="450" dirty="0"/>
              <a:t>Conclusions</a:t>
            </a:r>
            <a:r>
              <a:rPr sz="3150" dirty="0"/>
              <a:t>	</a:t>
            </a:r>
            <a:r>
              <a:rPr sz="3150" spc="495" dirty="0"/>
              <a:t>&amp;</a:t>
            </a:r>
            <a:r>
              <a:rPr sz="3150" dirty="0"/>
              <a:t>	</a:t>
            </a:r>
            <a:r>
              <a:rPr sz="3150" spc="470" dirty="0"/>
              <a:t>Future</a:t>
            </a:r>
            <a:r>
              <a:rPr sz="3150" dirty="0"/>
              <a:t>	</a:t>
            </a:r>
            <a:r>
              <a:rPr sz="3150" spc="515" dirty="0"/>
              <a:t>Scope</a:t>
            </a:r>
            <a:endParaRPr sz="31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162" y="1542289"/>
            <a:ext cx="11710415" cy="50109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69169" y="2092326"/>
            <a:ext cx="267208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3150" spc="1732" baseline="-3968" dirty="0">
                <a:solidFill>
                  <a:srgbClr val="0FB981"/>
                </a:solidFill>
                <a:latin typeface="Segoe UI Symbol"/>
                <a:cs typeface="Segoe UI Symbol"/>
              </a:rPr>
              <a:t></a:t>
            </a:r>
            <a:r>
              <a:rPr sz="3150" spc="480" baseline="-3968" dirty="0">
                <a:solidFill>
                  <a:srgbClr val="0FB981"/>
                </a:solidFill>
                <a:latin typeface="Segoe UI Symbol"/>
                <a:cs typeface="Segoe UI Symbol"/>
              </a:rPr>
              <a:t> </a:t>
            </a:r>
            <a:r>
              <a:rPr sz="1950" b="1" spc="33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Key</a:t>
            </a:r>
            <a:r>
              <a:rPr sz="1950" b="1" spc="26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950" b="1" spc="19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Conclusions</a:t>
            </a:r>
            <a:endParaRPr sz="1950">
              <a:latin typeface="Adobe Clean SemiCondensed"/>
              <a:cs typeface="Adobe Clean SemiCondense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9170" y="2720977"/>
            <a:ext cx="196850" cy="220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351" spc="50" dirty="0">
                <a:solidFill>
                  <a:srgbClr val="3B81F5"/>
                </a:solidFill>
                <a:latin typeface="Segoe UI Symbol"/>
                <a:cs typeface="Segoe UI Symbol"/>
              </a:rPr>
              <a:t></a:t>
            </a:r>
            <a:endParaRPr sz="1351">
              <a:latin typeface="Segoe UI Symbol"/>
              <a:cs typeface="Segoe UI 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4920" y="2656204"/>
            <a:ext cx="4298315" cy="4844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 marR="5081">
              <a:lnSpc>
                <a:spcPct val="135400"/>
              </a:lnSpc>
              <a:spcBef>
                <a:spcPts val="99"/>
              </a:spcBef>
            </a:pPr>
            <a:r>
              <a:rPr sz="1200" spc="104" dirty="0">
                <a:solidFill>
                  <a:srgbClr val="334054"/>
                </a:solidFill>
                <a:latin typeface="Trebuchet MS"/>
                <a:cs typeface="Trebuchet MS"/>
              </a:rPr>
              <a:t>VGG16-</a:t>
            </a:r>
            <a:r>
              <a:rPr sz="1200" spc="95" dirty="0">
                <a:solidFill>
                  <a:srgbClr val="334054"/>
                </a:solidFill>
                <a:latin typeface="Trebuchet MS"/>
                <a:cs typeface="Trebuchet MS"/>
              </a:rPr>
              <a:t>based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model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85" dirty="0">
                <a:solidFill>
                  <a:srgbClr val="334054"/>
                </a:solidFill>
                <a:latin typeface="Trebuchet MS"/>
                <a:cs typeface="Trebuchet MS"/>
              </a:rPr>
              <a:t>achieves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b="1" spc="170" dirty="0">
                <a:solidFill>
                  <a:srgbClr val="0FB981"/>
                </a:solidFill>
                <a:latin typeface="Adobe Clean SemiCondensed"/>
                <a:cs typeface="Adobe Clean SemiCondensed"/>
              </a:rPr>
              <a:t>88%</a:t>
            </a:r>
            <a:r>
              <a:rPr sz="1200" b="1" spc="210" dirty="0">
                <a:solidFill>
                  <a:srgbClr val="0FB981"/>
                </a:solidFill>
                <a:latin typeface="Adobe Clean SemiCondensed"/>
                <a:cs typeface="Adobe Clean SemiCondensed"/>
              </a:rPr>
              <a:t> accuracy</a:t>
            </a:r>
            <a:r>
              <a:rPr sz="1200" b="1" spc="170" dirty="0">
                <a:solidFill>
                  <a:srgbClr val="0FB981"/>
                </a:solidFill>
                <a:latin typeface="Adobe Clean SemiCondensed"/>
                <a:cs typeface="Adobe Clean SemiCondensed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with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high </a:t>
            </a:r>
            <a:r>
              <a:rPr sz="1200" spc="-10" dirty="0">
                <a:solidFill>
                  <a:srgbClr val="334054"/>
                </a:solidFill>
                <a:latin typeface="Trebuchet MS"/>
                <a:cs typeface="Trebuchet MS"/>
              </a:rPr>
              <a:t>reliability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9171" y="3378202"/>
            <a:ext cx="175895" cy="220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351" spc="-114" dirty="0">
                <a:solidFill>
                  <a:srgbClr val="3B81F5"/>
                </a:solidFill>
                <a:latin typeface="Segoe UI Symbol"/>
                <a:cs typeface="Segoe UI Symbol"/>
              </a:rPr>
              <a:t></a:t>
            </a:r>
            <a:endParaRPr sz="1351">
              <a:latin typeface="Segoe UI Symbol"/>
              <a:cs typeface="Segoe UI 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3488" y="3378200"/>
            <a:ext cx="43262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Provides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fast,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automated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90" dirty="0">
                <a:solidFill>
                  <a:srgbClr val="334054"/>
                </a:solidFill>
                <a:latin typeface="Trebuchet MS"/>
                <a:cs typeface="Trebuchet MS"/>
              </a:rPr>
              <a:t>second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opinion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for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radiologists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9170" y="3797302"/>
            <a:ext cx="218440" cy="220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351" spc="220" dirty="0">
                <a:solidFill>
                  <a:srgbClr val="3B81F5"/>
                </a:solidFill>
                <a:latin typeface="Segoe UI Symbol"/>
                <a:cs typeface="Segoe UI Symbol"/>
              </a:rPr>
              <a:t></a:t>
            </a:r>
            <a:endParaRPr sz="1351">
              <a:latin typeface="Segoe UI Symbol"/>
              <a:cs typeface="Segoe UI 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6352" y="3797299"/>
            <a:ext cx="42576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Complete</a:t>
            </a:r>
            <a:r>
              <a:rPr sz="1200" spc="4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end-to-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end</a:t>
            </a:r>
            <a:r>
              <a:rPr sz="1200" spc="4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pipeline</a:t>
            </a:r>
            <a:r>
              <a:rPr sz="1200" spc="4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from</a:t>
            </a:r>
            <a:r>
              <a:rPr sz="1200" spc="4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data</a:t>
            </a:r>
            <a:r>
              <a:rPr sz="1200" spc="4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to</a:t>
            </a:r>
            <a:r>
              <a:rPr sz="1200" spc="4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deployment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84170" y="2092326"/>
            <a:ext cx="2835276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3150" spc="1732" baseline="-3968" dirty="0">
                <a:solidFill>
                  <a:srgbClr val="3B81F5"/>
                </a:solidFill>
                <a:latin typeface="Segoe UI Symbol"/>
                <a:cs typeface="Segoe UI Symbol"/>
              </a:rPr>
              <a:t></a:t>
            </a:r>
            <a:r>
              <a:rPr sz="3150" spc="494" baseline="-3968" dirty="0">
                <a:solidFill>
                  <a:srgbClr val="3B81F5"/>
                </a:solidFill>
                <a:latin typeface="Segoe UI Symbol"/>
                <a:cs typeface="Segoe UI Symbol"/>
              </a:rPr>
              <a:t> </a:t>
            </a:r>
            <a:r>
              <a:rPr sz="1950" b="1" spc="32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Future</a:t>
            </a:r>
            <a:r>
              <a:rPr sz="1950" b="1" spc="27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950" b="1" spc="18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Directions</a:t>
            </a:r>
            <a:endParaRPr sz="1950">
              <a:latin typeface="Adobe Clean SemiCondensed"/>
              <a:cs typeface="Adobe Clean SemiCondensed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356694"/>
              </p:ext>
            </p:extLst>
          </p:nvPr>
        </p:nvGraphicFramePr>
        <p:xfrm>
          <a:off x="6779420" y="2809922"/>
          <a:ext cx="3999866" cy="15598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1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1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515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</a:pPr>
                      <a:r>
                        <a:rPr sz="1000" spc="290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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85"/>
                        </a:lnSpc>
                      </a:pPr>
                      <a:r>
                        <a:rPr sz="1000" spc="5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Multi-</a:t>
                      </a:r>
                      <a:r>
                        <a:rPr sz="100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class</a:t>
                      </a:r>
                      <a:r>
                        <a:rPr sz="1000" spc="26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4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Detection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</a:pPr>
                      <a:r>
                        <a:rPr sz="1000" spc="-50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✀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185"/>
                        </a:lnSpc>
                      </a:pPr>
                      <a:r>
                        <a:rPr sz="100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U-</a:t>
                      </a:r>
                      <a:r>
                        <a:rPr sz="1000" spc="5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Net</a:t>
                      </a:r>
                      <a:r>
                        <a:rPr sz="1000" spc="9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Segmentation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0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415" algn="ctr">
                        <a:lnSpc>
                          <a:spcPct val="100000"/>
                        </a:lnSpc>
                      </a:pPr>
                      <a:r>
                        <a:rPr sz="1000" spc="290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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000" spc="5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Explainable</a:t>
                      </a:r>
                      <a:r>
                        <a:rPr sz="1000" spc="4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AI</a:t>
                      </a:r>
                      <a:r>
                        <a:rPr sz="1000" spc="4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4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(XAI)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46051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</a:pPr>
                      <a:r>
                        <a:rPr sz="1000" spc="325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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000" spc="5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Larger</a:t>
                      </a:r>
                      <a:r>
                        <a:rPr sz="1000" spc="4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7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Datasets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46051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0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23495" algn="ctr">
                        <a:lnSpc>
                          <a:spcPct val="100000"/>
                        </a:lnSpc>
                      </a:pPr>
                      <a:r>
                        <a:rPr sz="1000" spc="114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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000" spc="5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Mobile</a:t>
                      </a:r>
                      <a:r>
                        <a:rPr sz="1000" spc="2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-1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Application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46051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080" algn="r">
                        <a:lnSpc>
                          <a:spcPct val="100000"/>
                        </a:lnSpc>
                      </a:pPr>
                      <a:r>
                        <a:rPr sz="1000" spc="935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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000" spc="7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PACS</a:t>
                      </a:r>
                      <a:r>
                        <a:rPr sz="1000" spc="2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4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Integration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46051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ts val="1125"/>
                        </a:lnSpc>
                      </a:pPr>
                      <a:r>
                        <a:rPr sz="1000" spc="420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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200"/>
                        </a:lnSpc>
                        <a:spcBef>
                          <a:spcPts val="1150"/>
                        </a:spcBef>
                      </a:pPr>
                      <a:r>
                        <a:rPr sz="1000" spc="8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GAN-</a:t>
                      </a:r>
                      <a:r>
                        <a:rPr sz="1000" spc="7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sz="1000" spc="3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MRI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46051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080" algn="r">
                        <a:lnSpc>
                          <a:spcPts val="1125"/>
                        </a:lnSpc>
                      </a:pPr>
                      <a:r>
                        <a:rPr sz="1000" spc="935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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00"/>
                        </a:lnSpc>
                        <a:spcBef>
                          <a:spcPts val="1150"/>
                        </a:spcBef>
                      </a:pPr>
                      <a:r>
                        <a:rPr sz="1000" spc="8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RL</a:t>
                      </a:r>
                      <a:r>
                        <a:rPr sz="1000" spc="1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Automation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</a:txBody>
                  <a:tcPr marL="0" marR="0" marT="146051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871" y="5181600"/>
            <a:ext cx="11048998" cy="98107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21544" y="5445126"/>
            <a:ext cx="35814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2700" spc="-30" dirty="0">
                <a:solidFill>
                  <a:srgbClr val="FFFFFF"/>
                </a:solidFill>
                <a:latin typeface="Arial"/>
                <a:cs typeface="Arial"/>
              </a:rPr>
              <a:t></a:t>
            </a:r>
            <a:endParaRPr sz="27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44229" y="5340986"/>
            <a:ext cx="4839335" cy="56117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1">
              <a:spcBef>
                <a:spcPts val="695"/>
              </a:spcBef>
            </a:pPr>
            <a:r>
              <a:rPr sz="1050" spc="60" dirty="0">
                <a:solidFill>
                  <a:srgbClr val="DFF1FE"/>
                </a:solidFill>
                <a:latin typeface="Trebuchet MS"/>
                <a:cs typeface="Trebuchet MS"/>
              </a:rPr>
              <a:t>Complete</a:t>
            </a:r>
            <a:r>
              <a:rPr sz="1050" spc="75" dirty="0">
                <a:solidFill>
                  <a:srgbClr val="DFF1FE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DFF1FE"/>
                </a:solidFill>
                <a:latin typeface="Trebuchet MS"/>
                <a:cs typeface="Trebuchet MS"/>
              </a:rPr>
              <a:t>Project</a:t>
            </a:r>
            <a:r>
              <a:rPr sz="1050" spc="80" dirty="0">
                <a:solidFill>
                  <a:srgbClr val="DFF1FE"/>
                </a:solidFill>
                <a:latin typeface="Trebuchet MS"/>
                <a:cs typeface="Trebuchet MS"/>
              </a:rPr>
              <a:t> </a:t>
            </a:r>
            <a:r>
              <a:rPr sz="1050" spc="45" dirty="0">
                <a:solidFill>
                  <a:srgbClr val="DFF1FE"/>
                </a:solidFill>
                <a:latin typeface="Trebuchet MS"/>
                <a:cs typeface="Trebuchet MS"/>
              </a:rPr>
              <a:t>Repository</a:t>
            </a:r>
            <a:endParaRPr sz="1050" dirty="0">
              <a:latin typeface="Trebuchet MS"/>
              <a:cs typeface="Trebuchet MS"/>
            </a:endParaRPr>
          </a:p>
          <a:p>
            <a:pPr marL="12701">
              <a:spcBef>
                <a:spcPts val="765"/>
              </a:spcBef>
            </a:pPr>
            <a:r>
              <a:rPr sz="1351" b="1" spc="20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github.com/SourabhHooda/Brain-Tumor-</a:t>
            </a:r>
            <a:r>
              <a:rPr sz="1351" b="1" spc="19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Detection</a:t>
            </a:r>
            <a:endParaRPr sz="1351" dirty="0">
              <a:latin typeface="Adobe Clean SemiCondensed"/>
              <a:cs typeface="Adobe Clean SemiCondensed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706890" y="5467349"/>
            <a:ext cx="609601" cy="419100"/>
          </a:xfrm>
          <a:custGeom>
            <a:avLst/>
            <a:gdLst/>
            <a:ahLst/>
            <a:cxnLst/>
            <a:rect l="l" t="t" r="r" b="b"/>
            <a:pathLst>
              <a:path w="609600" h="419100">
                <a:moveTo>
                  <a:pt x="538404" y="419099"/>
                </a:moveTo>
                <a:lnTo>
                  <a:pt x="71197" y="419099"/>
                </a:lnTo>
                <a:lnTo>
                  <a:pt x="66242" y="418611"/>
                </a:lnTo>
                <a:lnTo>
                  <a:pt x="29705" y="403478"/>
                </a:lnTo>
                <a:lnTo>
                  <a:pt x="3884" y="367437"/>
                </a:lnTo>
                <a:lnTo>
                  <a:pt x="0" y="347903"/>
                </a:lnTo>
                <a:lnTo>
                  <a:pt x="1" y="342899"/>
                </a:lnTo>
                <a:lnTo>
                  <a:pt x="0" y="71196"/>
                </a:lnTo>
                <a:lnTo>
                  <a:pt x="15622" y="29705"/>
                </a:lnTo>
                <a:lnTo>
                  <a:pt x="51661" y="3885"/>
                </a:lnTo>
                <a:lnTo>
                  <a:pt x="71197" y="0"/>
                </a:lnTo>
                <a:lnTo>
                  <a:pt x="538404" y="0"/>
                </a:lnTo>
                <a:lnTo>
                  <a:pt x="579893" y="15621"/>
                </a:lnTo>
                <a:lnTo>
                  <a:pt x="605712" y="51661"/>
                </a:lnTo>
                <a:lnTo>
                  <a:pt x="609599" y="71196"/>
                </a:lnTo>
                <a:lnTo>
                  <a:pt x="609599" y="347903"/>
                </a:lnTo>
                <a:lnTo>
                  <a:pt x="593977" y="389394"/>
                </a:lnTo>
                <a:lnTo>
                  <a:pt x="557937" y="415214"/>
                </a:lnTo>
                <a:lnTo>
                  <a:pt x="543358" y="418611"/>
                </a:lnTo>
                <a:lnTo>
                  <a:pt x="538404" y="419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922793" y="5559424"/>
            <a:ext cx="177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200" spc="50" dirty="0">
                <a:solidFill>
                  <a:srgbClr val="1D3A8A"/>
                </a:solidFill>
                <a:latin typeface="Segoe UI Symbol"/>
                <a:cs typeface="Segoe UI Symbol"/>
              </a:rPr>
              <a:t></a:t>
            </a:r>
            <a:endParaRPr sz="12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8F4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FFB15-917D-8095-29D8-757EAC598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AC43CD6-B313-1B7C-6965-3E06BC1FC19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71" y="2"/>
            <a:ext cx="12191999" cy="6857999"/>
          </a:xfrm>
          <a:prstGeom prst="rect">
            <a:avLst/>
          </a:prstGeom>
        </p:spPr>
      </p:pic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6D0F3D36-8D1A-AB33-AB5C-47C8D9C6B8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8207" y="720727"/>
            <a:ext cx="6199505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  <a:tabLst>
                <a:tab pos="2780194" algn="l"/>
                <a:tab pos="3258378" algn="l"/>
                <a:tab pos="4847242" algn="l"/>
              </a:tabLst>
            </a:pPr>
            <a:r>
              <a:rPr sz="3150" spc="450" dirty="0"/>
              <a:t>Conclusions</a:t>
            </a:r>
            <a:r>
              <a:rPr sz="3150" dirty="0"/>
              <a:t>	</a:t>
            </a:r>
            <a:r>
              <a:rPr sz="3150" spc="495" dirty="0"/>
              <a:t>&amp;</a:t>
            </a:r>
            <a:r>
              <a:rPr sz="3150" dirty="0"/>
              <a:t>	</a:t>
            </a:r>
            <a:r>
              <a:rPr sz="3150" spc="470" dirty="0"/>
              <a:t>Future</a:t>
            </a:r>
            <a:r>
              <a:rPr sz="3150" dirty="0"/>
              <a:t>	</a:t>
            </a:r>
            <a:r>
              <a:rPr sz="3150" spc="515" dirty="0"/>
              <a:t>Scope</a:t>
            </a:r>
            <a:endParaRPr sz="315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FAC043C-9233-14F7-537C-9AD0BE81CF5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162" y="1542289"/>
            <a:ext cx="11710415" cy="5010911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2E3FF8F1-DFAD-5AF7-AD27-3681FDBB7D95}"/>
              </a:ext>
            </a:extLst>
          </p:cNvPr>
          <p:cNvSpPr txBox="1"/>
          <p:nvPr/>
        </p:nvSpPr>
        <p:spPr>
          <a:xfrm>
            <a:off x="969169" y="2092326"/>
            <a:ext cx="267208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3150" spc="1732" baseline="-3968" dirty="0">
                <a:solidFill>
                  <a:srgbClr val="0FB981"/>
                </a:solidFill>
                <a:latin typeface="Segoe UI Symbol"/>
                <a:cs typeface="Segoe UI Symbol"/>
              </a:rPr>
              <a:t></a:t>
            </a:r>
            <a:r>
              <a:rPr sz="3150" spc="480" baseline="-3968" dirty="0">
                <a:solidFill>
                  <a:srgbClr val="0FB981"/>
                </a:solidFill>
                <a:latin typeface="Segoe UI Symbol"/>
                <a:cs typeface="Segoe UI Symbol"/>
              </a:rPr>
              <a:t> </a:t>
            </a:r>
            <a:r>
              <a:rPr sz="1950" b="1" spc="33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Key</a:t>
            </a:r>
            <a:r>
              <a:rPr sz="1950" b="1" spc="26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950" b="1" spc="19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Conclusions</a:t>
            </a:r>
            <a:endParaRPr sz="1950">
              <a:latin typeface="Adobe Clean SemiCondensed"/>
              <a:cs typeface="Adobe Clean SemiCondensed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C72969E-4F51-AD70-E628-C06610EFEC87}"/>
              </a:ext>
            </a:extLst>
          </p:cNvPr>
          <p:cNvSpPr txBox="1"/>
          <p:nvPr/>
        </p:nvSpPr>
        <p:spPr>
          <a:xfrm>
            <a:off x="969170" y="2720977"/>
            <a:ext cx="196850" cy="220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351" spc="50" dirty="0">
                <a:solidFill>
                  <a:srgbClr val="3B81F5"/>
                </a:solidFill>
                <a:latin typeface="Segoe UI Symbol"/>
                <a:cs typeface="Segoe UI Symbol"/>
              </a:rPr>
              <a:t></a:t>
            </a:r>
            <a:endParaRPr sz="1351">
              <a:latin typeface="Segoe UI Symbol"/>
              <a:cs typeface="Segoe UI Symbo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4C65120-EA32-62F4-2B52-410BB634844D}"/>
              </a:ext>
            </a:extLst>
          </p:cNvPr>
          <p:cNvSpPr txBox="1"/>
          <p:nvPr/>
        </p:nvSpPr>
        <p:spPr>
          <a:xfrm>
            <a:off x="1254920" y="2656204"/>
            <a:ext cx="4298315" cy="4844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 marR="5081">
              <a:lnSpc>
                <a:spcPct val="135400"/>
              </a:lnSpc>
              <a:spcBef>
                <a:spcPts val="99"/>
              </a:spcBef>
            </a:pPr>
            <a:r>
              <a:rPr sz="1200" spc="104" dirty="0">
                <a:solidFill>
                  <a:srgbClr val="334054"/>
                </a:solidFill>
                <a:latin typeface="Trebuchet MS"/>
                <a:cs typeface="Trebuchet MS"/>
              </a:rPr>
              <a:t>VGG16-</a:t>
            </a:r>
            <a:r>
              <a:rPr sz="1200" spc="95" dirty="0">
                <a:solidFill>
                  <a:srgbClr val="334054"/>
                </a:solidFill>
                <a:latin typeface="Trebuchet MS"/>
                <a:cs typeface="Trebuchet MS"/>
              </a:rPr>
              <a:t>based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model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85" dirty="0">
                <a:solidFill>
                  <a:srgbClr val="334054"/>
                </a:solidFill>
                <a:latin typeface="Trebuchet MS"/>
                <a:cs typeface="Trebuchet MS"/>
              </a:rPr>
              <a:t>achieves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b="1" spc="170" dirty="0">
                <a:solidFill>
                  <a:srgbClr val="0FB981"/>
                </a:solidFill>
                <a:latin typeface="Adobe Clean SemiCondensed"/>
                <a:cs typeface="Adobe Clean SemiCondensed"/>
              </a:rPr>
              <a:t>88%</a:t>
            </a:r>
            <a:r>
              <a:rPr sz="1200" b="1" spc="210" dirty="0">
                <a:solidFill>
                  <a:srgbClr val="0FB981"/>
                </a:solidFill>
                <a:latin typeface="Adobe Clean SemiCondensed"/>
                <a:cs typeface="Adobe Clean SemiCondensed"/>
              </a:rPr>
              <a:t> accuracy</a:t>
            </a:r>
            <a:r>
              <a:rPr sz="1200" b="1" spc="170" dirty="0">
                <a:solidFill>
                  <a:srgbClr val="0FB981"/>
                </a:solidFill>
                <a:latin typeface="Adobe Clean SemiCondensed"/>
                <a:cs typeface="Adobe Clean SemiCondensed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with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high </a:t>
            </a:r>
            <a:r>
              <a:rPr sz="1200" spc="-10" dirty="0">
                <a:solidFill>
                  <a:srgbClr val="334054"/>
                </a:solidFill>
                <a:latin typeface="Trebuchet MS"/>
                <a:cs typeface="Trebuchet MS"/>
              </a:rPr>
              <a:t>reliability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FA77AA1-3A6C-58A3-F939-A929E03BFAC0}"/>
              </a:ext>
            </a:extLst>
          </p:cNvPr>
          <p:cNvSpPr txBox="1"/>
          <p:nvPr/>
        </p:nvSpPr>
        <p:spPr>
          <a:xfrm>
            <a:off x="969171" y="3378202"/>
            <a:ext cx="175895" cy="220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351" spc="-114" dirty="0">
                <a:solidFill>
                  <a:srgbClr val="3B81F5"/>
                </a:solidFill>
                <a:latin typeface="Segoe UI Symbol"/>
                <a:cs typeface="Segoe UI Symbol"/>
              </a:rPr>
              <a:t></a:t>
            </a:r>
            <a:endParaRPr sz="1351">
              <a:latin typeface="Segoe UI Symbol"/>
              <a:cs typeface="Segoe UI Symbo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1B84D16-64EE-90B1-9D7E-E8505984C525}"/>
              </a:ext>
            </a:extLst>
          </p:cNvPr>
          <p:cNvSpPr txBox="1"/>
          <p:nvPr/>
        </p:nvSpPr>
        <p:spPr>
          <a:xfrm>
            <a:off x="1233488" y="3378200"/>
            <a:ext cx="43262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Provides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fast,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80" dirty="0">
                <a:solidFill>
                  <a:srgbClr val="334054"/>
                </a:solidFill>
                <a:latin typeface="Trebuchet MS"/>
                <a:cs typeface="Trebuchet MS"/>
              </a:rPr>
              <a:t>automated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90" dirty="0">
                <a:solidFill>
                  <a:srgbClr val="334054"/>
                </a:solidFill>
                <a:latin typeface="Trebuchet MS"/>
                <a:cs typeface="Trebuchet MS"/>
              </a:rPr>
              <a:t>second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334054"/>
                </a:solidFill>
                <a:latin typeface="Trebuchet MS"/>
                <a:cs typeface="Trebuchet MS"/>
              </a:rPr>
              <a:t>opinion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for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radiologists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ABB3F9D-A02A-2CF9-8E2E-0A1A1B7F77B8}"/>
              </a:ext>
            </a:extLst>
          </p:cNvPr>
          <p:cNvSpPr txBox="1"/>
          <p:nvPr/>
        </p:nvSpPr>
        <p:spPr>
          <a:xfrm>
            <a:off x="969170" y="3797302"/>
            <a:ext cx="218440" cy="220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351" spc="220" dirty="0">
                <a:solidFill>
                  <a:srgbClr val="3B81F5"/>
                </a:solidFill>
                <a:latin typeface="Segoe UI Symbol"/>
                <a:cs typeface="Segoe UI Symbol"/>
              </a:rPr>
              <a:t></a:t>
            </a:r>
            <a:endParaRPr sz="1351">
              <a:latin typeface="Segoe UI Symbol"/>
              <a:cs typeface="Segoe UI Symbo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696B44B-C003-795E-7A0D-CF319A5CF717}"/>
              </a:ext>
            </a:extLst>
          </p:cNvPr>
          <p:cNvSpPr txBox="1"/>
          <p:nvPr/>
        </p:nvSpPr>
        <p:spPr>
          <a:xfrm>
            <a:off x="1276352" y="3797299"/>
            <a:ext cx="42576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Complete</a:t>
            </a:r>
            <a:r>
              <a:rPr sz="1200" spc="4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334054"/>
                </a:solidFill>
                <a:latin typeface="Trebuchet MS"/>
                <a:cs typeface="Trebuchet MS"/>
              </a:rPr>
              <a:t>end-to-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end</a:t>
            </a:r>
            <a:r>
              <a:rPr sz="1200" spc="4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334054"/>
                </a:solidFill>
                <a:latin typeface="Trebuchet MS"/>
                <a:cs typeface="Trebuchet MS"/>
              </a:rPr>
              <a:t>pipeline</a:t>
            </a:r>
            <a:r>
              <a:rPr sz="1200" spc="4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334054"/>
                </a:solidFill>
                <a:latin typeface="Trebuchet MS"/>
                <a:cs typeface="Trebuchet MS"/>
              </a:rPr>
              <a:t>from</a:t>
            </a:r>
            <a:r>
              <a:rPr sz="1200" spc="45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334054"/>
                </a:solidFill>
                <a:latin typeface="Trebuchet MS"/>
                <a:cs typeface="Trebuchet MS"/>
              </a:rPr>
              <a:t>data</a:t>
            </a:r>
            <a:r>
              <a:rPr sz="1200" spc="4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34054"/>
                </a:solidFill>
                <a:latin typeface="Trebuchet MS"/>
                <a:cs typeface="Trebuchet MS"/>
              </a:rPr>
              <a:t>to</a:t>
            </a:r>
            <a:r>
              <a:rPr sz="1200" spc="40" dirty="0">
                <a:solidFill>
                  <a:srgbClr val="334054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334054"/>
                </a:solidFill>
                <a:latin typeface="Trebuchet MS"/>
                <a:cs typeface="Trebuchet MS"/>
              </a:rPr>
              <a:t>deployment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891B556-E81A-781C-6B04-FBD1ABEEBAAF}"/>
              </a:ext>
            </a:extLst>
          </p:cNvPr>
          <p:cNvSpPr txBox="1"/>
          <p:nvPr/>
        </p:nvSpPr>
        <p:spPr>
          <a:xfrm>
            <a:off x="6684170" y="2092326"/>
            <a:ext cx="2835276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3150" spc="1732" baseline="-3968" dirty="0">
                <a:solidFill>
                  <a:srgbClr val="3B81F5"/>
                </a:solidFill>
                <a:latin typeface="Segoe UI Symbol"/>
                <a:cs typeface="Segoe UI Symbol"/>
              </a:rPr>
              <a:t></a:t>
            </a:r>
            <a:r>
              <a:rPr sz="3150" spc="494" baseline="-3968" dirty="0">
                <a:solidFill>
                  <a:srgbClr val="3B81F5"/>
                </a:solidFill>
                <a:latin typeface="Segoe UI Symbol"/>
                <a:cs typeface="Segoe UI Symbol"/>
              </a:rPr>
              <a:t> </a:t>
            </a:r>
            <a:r>
              <a:rPr sz="1950" b="1" spc="32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Future</a:t>
            </a:r>
            <a:r>
              <a:rPr sz="1950" b="1" spc="275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 </a:t>
            </a:r>
            <a:r>
              <a:rPr sz="1950" b="1" spc="180" dirty="0">
                <a:solidFill>
                  <a:srgbClr val="1D3A8A"/>
                </a:solidFill>
                <a:latin typeface="Adobe Clean SemiCondensed"/>
                <a:cs typeface="Adobe Clean SemiCondensed"/>
              </a:rPr>
              <a:t>Directions</a:t>
            </a:r>
            <a:endParaRPr sz="1950">
              <a:latin typeface="Adobe Clean SemiCondensed"/>
              <a:cs typeface="Adobe Clean SemiCondensed"/>
            </a:endParaRPr>
          </a:p>
        </p:txBody>
      </p:sp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1098E02C-CBB7-1DB2-7D1F-BDB740B870B4}"/>
              </a:ext>
            </a:extLst>
          </p:cNvPr>
          <p:cNvGraphicFramePr>
            <a:graphicFrameLocks noGrp="1"/>
          </p:cNvGraphicFramePr>
          <p:nvPr/>
        </p:nvGraphicFramePr>
        <p:xfrm>
          <a:off x="6779420" y="2809922"/>
          <a:ext cx="3999866" cy="15598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1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1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515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</a:pPr>
                      <a:r>
                        <a:rPr sz="1000" spc="290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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85"/>
                        </a:lnSpc>
                      </a:pPr>
                      <a:r>
                        <a:rPr sz="1000" spc="5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Multi-</a:t>
                      </a:r>
                      <a:r>
                        <a:rPr sz="100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class</a:t>
                      </a:r>
                      <a:r>
                        <a:rPr sz="1000" spc="26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4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Detection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</a:pPr>
                      <a:r>
                        <a:rPr sz="1000" spc="-50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✀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185"/>
                        </a:lnSpc>
                      </a:pPr>
                      <a:r>
                        <a:rPr sz="100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U-</a:t>
                      </a:r>
                      <a:r>
                        <a:rPr sz="1000" spc="5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Net</a:t>
                      </a:r>
                      <a:r>
                        <a:rPr sz="1000" spc="9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Segmentation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0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415" algn="ctr">
                        <a:lnSpc>
                          <a:spcPct val="100000"/>
                        </a:lnSpc>
                      </a:pPr>
                      <a:r>
                        <a:rPr sz="1000" spc="290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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000" spc="5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Explainable</a:t>
                      </a:r>
                      <a:r>
                        <a:rPr sz="1000" spc="4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AI</a:t>
                      </a:r>
                      <a:r>
                        <a:rPr sz="1000" spc="4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4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(XAI)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46051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</a:pPr>
                      <a:r>
                        <a:rPr sz="1000" spc="325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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000" spc="5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Larger</a:t>
                      </a:r>
                      <a:r>
                        <a:rPr sz="1000" spc="4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7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Datasets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46051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0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23495" algn="ctr">
                        <a:lnSpc>
                          <a:spcPct val="100000"/>
                        </a:lnSpc>
                      </a:pPr>
                      <a:r>
                        <a:rPr sz="1000" spc="114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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000" spc="5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Mobile</a:t>
                      </a:r>
                      <a:r>
                        <a:rPr sz="1000" spc="2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-1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Application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46051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080" algn="r">
                        <a:lnSpc>
                          <a:spcPct val="100000"/>
                        </a:lnSpc>
                      </a:pPr>
                      <a:r>
                        <a:rPr sz="1000" spc="935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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000" spc="7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PACS</a:t>
                      </a:r>
                      <a:r>
                        <a:rPr sz="1000" spc="2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4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Integration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46051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ts val="1125"/>
                        </a:lnSpc>
                      </a:pPr>
                      <a:r>
                        <a:rPr sz="1000" spc="420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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200"/>
                        </a:lnSpc>
                        <a:spcBef>
                          <a:spcPts val="1150"/>
                        </a:spcBef>
                      </a:pPr>
                      <a:r>
                        <a:rPr sz="1000" spc="8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GAN-</a:t>
                      </a:r>
                      <a:r>
                        <a:rPr sz="1000" spc="7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sz="1000" spc="3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MRI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46051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080" algn="r">
                        <a:lnSpc>
                          <a:spcPts val="1125"/>
                        </a:lnSpc>
                      </a:pPr>
                      <a:r>
                        <a:rPr sz="1000" spc="935" dirty="0">
                          <a:solidFill>
                            <a:srgbClr val="3B81F5"/>
                          </a:solidFill>
                          <a:latin typeface="Segoe UI Symbol"/>
                          <a:cs typeface="Segoe UI Symbol"/>
                        </a:rPr>
                        <a:t>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00"/>
                        </a:lnSpc>
                        <a:spcBef>
                          <a:spcPts val="1150"/>
                        </a:spcBef>
                      </a:pPr>
                      <a:r>
                        <a:rPr sz="1000" spc="80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RL</a:t>
                      </a:r>
                      <a:r>
                        <a:rPr sz="1000" spc="1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5" dirty="0">
                          <a:solidFill>
                            <a:srgbClr val="334054"/>
                          </a:solidFill>
                          <a:latin typeface="Trebuchet MS"/>
                          <a:cs typeface="Trebuchet MS"/>
                        </a:rPr>
                        <a:t>Automation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</a:txBody>
                  <a:tcPr marL="0" marR="0" marT="146051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" name="object 14">
            <a:extLst>
              <a:ext uri="{FF2B5EF4-FFF2-40B4-BE49-F238E27FC236}">
                <a16:creationId xmlns:a16="http://schemas.microsoft.com/office/drawing/2014/main" id="{F7BB687B-0912-831D-CCFA-87EA6D93371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871" y="5181600"/>
            <a:ext cx="11048998" cy="981073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6C887BD2-13C0-CF5E-B0E2-5D0878943B54}"/>
              </a:ext>
            </a:extLst>
          </p:cNvPr>
          <p:cNvSpPr txBox="1"/>
          <p:nvPr/>
        </p:nvSpPr>
        <p:spPr>
          <a:xfrm>
            <a:off x="921544" y="5445126"/>
            <a:ext cx="35814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2700" spc="-30" dirty="0">
                <a:solidFill>
                  <a:srgbClr val="FFFFFF"/>
                </a:solidFill>
                <a:latin typeface="Arial"/>
                <a:cs typeface="Arial"/>
              </a:rPr>
              <a:t></a:t>
            </a:r>
            <a:endParaRPr sz="2700" dirty="0"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34E482B-14E3-5DCD-93D5-1235670D7FFD}"/>
              </a:ext>
            </a:extLst>
          </p:cNvPr>
          <p:cNvSpPr txBox="1"/>
          <p:nvPr/>
        </p:nvSpPr>
        <p:spPr>
          <a:xfrm>
            <a:off x="1444229" y="5340986"/>
            <a:ext cx="4839335" cy="56117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1">
              <a:spcBef>
                <a:spcPts val="695"/>
              </a:spcBef>
            </a:pPr>
            <a:r>
              <a:rPr sz="1050" spc="60" dirty="0">
                <a:solidFill>
                  <a:srgbClr val="DFF1FE"/>
                </a:solidFill>
                <a:latin typeface="Trebuchet MS"/>
                <a:cs typeface="Trebuchet MS"/>
              </a:rPr>
              <a:t>Complete</a:t>
            </a:r>
            <a:r>
              <a:rPr sz="1050" spc="75" dirty="0">
                <a:solidFill>
                  <a:srgbClr val="DFF1FE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DFF1FE"/>
                </a:solidFill>
                <a:latin typeface="Trebuchet MS"/>
                <a:cs typeface="Trebuchet MS"/>
              </a:rPr>
              <a:t>Project</a:t>
            </a:r>
            <a:r>
              <a:rPr sz="1050" spc="80" dirty="0">
                <a:solidFill>
                  <a:srgbClr val="DFF1FE"/>
                </a:solidFill>
                <a:latin typeface="Trebuchet MS"/>
                <a:cs typeface="Trebuchet MS"/>
              </a:rPr>
              <a:t> </a:t>
            </a:r>
            <a:r>
              <a:rPr sz="1050" spc="45" dirty="0">
                <a:solidFill>
                  <a:srgbClr val="DFF1FE"/>
                </a:solidFill>
                <a:latin typeface="Trebuchet MS"/>
                <a:cs typeface="Trebuchet MS"/>
              </a:rPr>
              <a:t>Repository</a:t>
            </a:r>
            <a:endParaRPr sz="1050" dirty="0">
              <a:latin typeface="Trebuchet MS"/>
              <a:cs typeface="Trebuchet MS"/>
            </a:endParaRPr>
          </a:p>
          <a:p>
            <a:pPr marL="12701">
              <a:spcBef>
                <a:spcPts val="765"/>
              </a:spcBef>
            </a:pPr>
            <a:r>
              <a:rPr sz="1351" b="1" spc="20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github.com/SourabhHooda/Brain-Tumor-</a:t>
            </a:r>
            <a:r>
              <a:rPr sz="1351" b="1" spc="190" dirty="0">
                <a:solidFill>
                  <a:srgbClr val="FFFFFF"/>
                </a:solidFill>
                <a:latin typeface="Adobe Clean SemiCondensed"/>
                <a:cs typeface="Adobe Clean SemiCondensed"/>
              </a:rPr>
              <a:t>Detection</a:t>
            </a:r>
            <a:endParaRPr sz="1351" dirty="0">
              <a:latin typeface="Adobe Clean SemiCondensed"/>
              <a:cs typeface="Adobe Clean SemiCondensed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701EE87-B6F4-7E16-4B7C-7E18F9D37B40}"/>
              </a:ext>
            </a:extLst>
          </p:cNvPr>
          <p:cNvSpPr/>
          <p:nvPr/>
        </p:nvSpPr>
        <p:spPr>
          <a:xfrm>
            <a:off x="10706890" y="5467349"/>
            <a:ext cx="609601" cy="419100"/>
          </a:xfrm>
          <a:custGeom>
            <a:avLst/>
            <a:gdLst/>
            <a:ahLst/>
            <a:cxnLst/>
            <a:rect l="l" t="t" r="r" b="b"/>
            <a:pathLst>
              <a:path w="609600" h="419100">
                <a:moveTo>
                  <a:pt x="538404" y="419099"/>
                </a:moveTo>
                <a:lnTo>
                  <a:pt x="71197" y="419099"/>
                </a:lnTo>
                <a:lnTo>
                  <a:pt x="66242" y="418611"/>
                </a:lnTo>
                <a:lnTo>
                  <a:pt x="29705" y="403478"/>
                </a:lnTo>
                <a:lnTo>
                  <a:pt x="3884" y="367437"/>
                </a:lnTo>
                <a:lnTo>
                  <a:pt x="0" y="347903"/>
                </a:lnTo>
                <a:lnTo>
                  <a:pt x="1" y="342899"/>
                </a:lnTo>
                <a:lnTo>
                  <a:pt x="0" y="71196"/>
                </a:lnTo>
                <a:lnTo>
                  <a:pt x="15622" y="29705"/>
                </a:lnTo>
                <a:lnTo>
                  <a:pt x="51661" y="3885"/>
                </a:lnTo>
                <a:lnTo>
                  <a:pt x="71197" y="0"/>
                </a:lnTo>
                <a:lnTo>
                  <a:pt x="538404" y="0"/>
                </a:lnTo>
                <a:lnTo>
                  <a:pt x="579893" y="15621"/>
                </a:lnTo>
                <a:lnTo>
                  <a:pt x="605712" y="51661"/>
                </a:lnTo>
                <a:lnTo>
                  <a:pt x="609599" y="71196"/>
                </a:lnTo>
                <a:lnTo>
                  <a:pt x="609599" y="347903"/>
                </a:lnTo>
                <a:lnTo>
                  <a:pt x="593977" y="389394"/>
                </a:lnTo>
                <a:lnTo>
                  <a:pt x="557937" y="415214"/>
                </a:lnTo>
                <a:lnTo>
                  <a:pt x="543358" y="418611"/>
                </a:lnTo>
                <a:lnTo>
                  <a:pt x="538404" y="419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53D3A56D-5D22-ACBB-A72B-03DCF9A4BFFC}"/>
              </a:ext>
            </a:extLst>
          </p:cNvPr>
          <p:cNvSpPr txBox="1"/>
          <p:nvPr/>
        </p:nvSpPr>
        <p:spPr>
          <a:xfrm>
            <a:off x="10922793" y="5559424"/>
            <a:ext cx="177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99"/>
              </a:spcBef>
            </a:pPr>
            <a:r>
              <a:rPr sz="1200" spc="50" dirty="0">
                <a:solidFill>
                  <a:srgbClr val="1D3A8A"/>
                </a:solidFill>
                <a:latin typeface="Segoe UI Symbol"/>
                <a:cs typeface="Segoe UI Symbol"/>
              </a:rPr>
              <a:t></a:t>
            </a:r>
            <a:endParaRPr sz="1200">
              <a:latin typeface="Segoe UI Symbol"/>
              <a:cs typeface="Segoe UI Symbol"/>
            </a:endParaRPr>
          </a:p>
        </p:txBody>
      </p:sp>
    </p:spTree>
    <p:extLst>
      <p:ext uri="{BB962C8B-B14F-4D97-AF65-F5344CB8AC3E}">
        <p14:creationId xmlns:p14="http://schemas.microsoft.com/office/powerpoint/2010/main" val="1345466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660</Words>
  <Application>Microsoft Office PowerPoint</Application>
  <PresentationFormat>Custom</PresentationFormat>
  <Paragraphs>219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Adobe Clean SemiCondensed</vt:lpstr>
      <vt:lpstr>Arial</vt:lpstr>
      <vt:lpstr>Arial Black</vt:lpstr>
      <vt:lpstr>Calibri</vt:lpstr>
      <vt:lpstr>Lucida Sans Unicode</vt:lpstr>
      <vt:lpstr>Microsoft Sans Serif</vt:lpstr>
      <vt:lpstr>Segoe UI Symbol</vt:lpstr>
      <vt:lpstr>Times New Roman</vt:lpstr>
      <vt:lpstr>Trebuchet MS</vt:lpstr>
      <vt:lpstr>Office Theme</vt:lpstr>
      <vt:lpstr>Brain Tumor Detection</vt:lpstr>
      <vt:lpstr>Abstract</vt:lpstr>
      <vt:lpstr>Introduction</vt:lpstr>
      <vt:lpstr>Methodology</vt:lpstr>
      <vt:lpstr>Model Training &amp; Architecture</vt:lpstr>
      <vt:lpstr>Model Evaluation &amp; Results</vt:lpstr>
      <vt:lpstr>Deployment &amp; System Integration</vt:lpstr>
      <vt:lpstr>Conclusions &amp; Future Scope</vt:lpstr>
      <vt:lpstr>Conclusions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Sourabh Hooda</cp:lastModifiedBy>
  <cp:revision>1</cp:revision>
  <dcterms:created xsi:type="dcterms:W3CDTF">2025-11-24T06:47:08Z</dcterms:created>
  <dcterms:modified xsi:type="dcterms:W3CDTF">2025-11-24T06:59:26Z</dcterms:modified>
</cp:coreProperties>
</file>